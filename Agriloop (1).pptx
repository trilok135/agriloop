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Neue Machina" charset="1" panose="00000500000000000000"/>
      <p:regular r:id="rId14"/>
    </p:embeddedFont>
    <p:embeddedFont>
      <p:font typeface="Garet Light" charset="1" panose="00000000000000000000"/>
      <p:regular r:id="rId15"/>
    </p:embeddedFont>
    <p:embeddedFont>
      <p:font typeface="Open Sauce" charset="1" panose="00000500000000000000"/>
      <p:regular r:id="rId16"/>
    </p:embeddedFont>
    <p:embeddedFont>
      <p:font typeface="Neue Machina Ultra-Bold" charset="1" panose="00000900000000000000"/>
      <p:regular r:id="rId17"/>
    </p:embeddedFont>
    <p:embeddedFont>
      <p:font typeface="Garet" charset="1" panose="00000000000000000000"/>
      <p:regular r:id="rId18"/>
    </p:embeddedFont>
    <p:embeddedFont>
      <p:font typeface="Garet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4236"/>
        </a:solidFill>
      </p:bgPr>
    </p:bg>
    <p:spTree>
      <p:nvGrpSpPr>
        <p:cNvPr id="1" name=""/>
        <p:cNvGrpSpPr/>
        <p:nvPr/>
      </p:nvGrpSpPr>
      <p:grpSpPr>
        <a:xfrm>
          <a:off x="0" y="0"/>
          <a:ext cx="0" cy="0"/>
          <a:chOff x="0" y="0"/>
          <a:chExt cx="0" cy="0"/>
        </a:xfrm>
      </p:grpSpPr>
      <p:sp>
        <p:nvSpPr>
          <p:cNvPr name="Freeform 2" id="2"/>
          <p:cNvSpPr/>
          <p:nvPr/>
        </p:nvSpPr>
        <p:spPr>
          <a:xfrm flipH="false" flipV="false" rot="0">
            <a:off x="-5787945" y="-644445"/>
            <a:ext cx="11575889" cy="11575889"/>
          </a:xfrm>
          <a:custGeom>
            <a:avLst/>
            <a:gdLst/>
            <a:ahLst/>
            <a:cxnLst/>
            <a:rect r="r" b="b" t="t" l="l"/>
            <a:pathLst>
              <a:path h="11575889" w="11575889">
                <a:moveTo>
                  <a:pt x="0" y="0"/>
                </a:moveTo>
                <a:lnTo>
                  <a:pt x="11575890" y="0"/>
                </a:lnTo>
                <a:lnTo>
                  <a:pt x="11575890" y="11575890"/>
                </a:lnTo>
                <a:lnTo>
                  <a:pt x="0" y="1157589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71951" y="4197237"/>
            <a:ext cx="10896411" cy="1991123"/>
            <a:chOff x="0" y="0"/>
            <a:chExt cx="14528548" cy="2654831"/>
          </a:xfrm>
        </p:grpSpPr>
        <p:sp>
          <p:nvSpPr>
            <p:cNvPr name="TextBox 4" id="4"/>
            <p:cNvSpPr txBox="true"/>
            <p:nvPr/>
          </p:nvSpPr>
          <p:spPr>
            <a:xfrm rot="0">
              <a:off x="0" y="-9525"/>
              <a:ext cx="14528548" cy="1889125"/>
            </a:xfrm>
            <a:prstGeom prst="rect">
              <a:avLst/>
            </a:prstGeom>
          </p:spPr>
          <p:txBody>
            <a:bodyPr anchor="t" rtlCol="false" tIns="0" lIns="0" bIns="0" rIns="0">
              <a:spAutoFit/>
            </a:bodyPr>
            <a:lstStyle/>
            <a:p>
              <a:pPr algn="l">
                <a:lnSpc>
                  <a:spcPts val="11159"/>
                </a:lnSpc>
              </a:pPr>
              <a:r>
                <a:rPr lang="en-US" sz="9299">
                  <a:solidFill>
                    <a:srgbClr val="B3E4C5"/>
                  </a:solidFill>
                  <a:latin typeface="Neue Machina"/>
                  <a:ea typeface="Neue Machina"/>
                  <a:cs typeface="Neue Machina"/>
                  <a:sym typeface="Neue Machina"/>
                </a:rPr>
                <a:t>AgriLoop</a:t>
              </a:r>
            </a:p>
          </p:txBody>
        </p:sp>
        <p:sp>
          <p:nvSpPr>
            <p:cNvPr name="TextBox 5" id="5"/>
            <p:cNvSpPr txBox="true"/>
            <p:nvPr/>
          </p:nvSpPr>
          <p:spPr>
            <a:xfrm rot="0">
              <a:off x="0" y="2107533"/>
              <a:ext cx="9874822" cy="547298"/>
            </a:xfrm>
            <a:prstGeom prst="rect">
              <a:avLst/>
            </a:prstGeom>
          </p:spPr>
          <p:txBody>
            <a:bodyPr anchor="t" rtlCol="false" tIns="0" lIns="0" bIns="0" rIns="0">
              <a:spAutoFit/>
            </a:bodyPr>
            <a:lstStyle/>
            <a:p>
              <a:pPr algn="l">
                <a:lnSpc>
                  <a:spcPts val="3494"/>
                </a:lnSpc>
              </a:pPr>
              <a:r>
                <a:rPr lang="en-US" sz="2495">
                  <a:solidFill>
                    <a:srgbClr val="B3E4C5"/>
                  </a:solidFill>
                  <a:latin typeface="Garet Light"/>
                  <a:ea typeface="Garet Light"/>
                  <a:cs typeface="Garet Light"/>
                  <a:sym typeface="Garet Light"/>
                </a:rPr>
                <a:t>Beyond the Crop, There’s Value in Waste</a:t>
              </a:r>
            </a:p>
          </p:txBody>
        </p:sp>
      </p:grpSp>
      <p:grpSp>
        <p:nvGrpSpPr>
          <p:cNvPr name="Group 6" id="6"/>
          <p:cNvGrpSpPr/>
          <p:nvPr/>
        </p:nvGrpSpPr>
        <p:grpSpPr>
          <a:xfrm rot="0">
            <a:off x="12061314" y="4371516"/>
            <a:ext cx="821282" cy="821282"/>
            <a:chOff x="0" y="0"/>
            <a:chExt cx="698500" cy="698500"/>
          </a:xfrm>
        </p:grpSpPr>
        <p:sp>
          <p:nvSpPr>
            <p:cNvPr name="Freeform 7" id="7"/>
            <p:cNvSpPr/>
            <p:nvPr/>
          </p:nvSpPr>
          <p:spPr>
            <a:xfrm flipH="false" flipV="false" rot="0">
              <a:off x="0" y="0"/>
              <a:ext cx="698500" cy="698500"/>
            </a:xfrm>
            <a:custGeom>
              <a:avLst/>
              <a:gdLst/>
              <a:ahLst/>
              <a:cxnLst/>
              <a:rect r="r" b="b" t="t" l="l"/>
              <a:pathLst>
                <a:path h="698500" w="698500">
                  <a:moveTo>
                    <a:pt x="629260" y="281037"/>
                  </a:moveTo>
                  <a:cubicBezTo>
                    <a:pt x="583433" y="281037"/>
                    <a:pt x="500858" y="298666"/>
                    <a:pt x="431161" y="316094"/>
                  </a:cubicBezTo>
                  <a:cubicBezTo>
                    <a:pt x="492925" y="279345"/>
                    <a:pt x="564222" y="233610"/>
                    <a:pt x="596877" y="200955"/>
                  </a:cubicBezTo>
                  <a:cubicBezTo>
                    <a:pt x="623929" y="173883"/>
                    <a:pt x="623929" y="130113"/>
                    <a:pt x="596877" y="103060"/>
                  </a:cubicBezTo>
                  <a:cubicBezTo>
                    <a:pt x="569825" y="76008"/>
                    <a:pt x="526035" y="76008"/>
                    <a:pt x="498983" y="103060"/>
                  </a:cubicBezTo>
                  <a:cubicBezTo>
                    <a:pt x="466583" y="135443"/>
                    <a:pt x="420665" y="206285"/>
                    <a:pt x="383734" y="267866"/>
                  </a:cubicBezTo>
                  <a:cubicBezTo>
                    <a:pt x="401453" y="198189"/>
                    <a:pt x="419519" y="115431"/>
                    <a:pt x="419519" y="69241"/>
                  </a:cubicBezTo>
                  <a:cubicBezTo>
                    <a:pt x="419519" y="30964"/>
                    <a:pt x="388536" y="0"/>
                    <a:pt x="350277" y="0"/>
                  </a:cubicBezTo>
                  <a:cubicBezTo>
                    <a:pt x="312001" y="0"/>
                    <a:pt x="281037" y="30964"/>
                    <a:pt x="281037" y="69241"/>
                  </a:cubicBezTo>
                  <a:cubicBezTo>
                    <a:pt x="281037" y="115067"/>
                    <a:pt x="298666" y="197662"/>
                    <a:pt x="316094" y="267339"/>
                  </a:cubicBezTo>
                  <a:cubicBezTo>
                    <a:pt x="279345" y="205575"/>
                    <a:pt x="233610" y="134297"/>
                    <a:pt x="200955" y="101623"/>
                  </a:cubicBezTo>
                  <a:cubicBezTo>
                    <a:pt x="173902" y="74571"/>
                    <a:pt x="130113" y="74571"/>
                    <a:pt x="103060" y="101623"/>
                  </a:cubicBezTo>
                  <a:cubicBezTo>
                    <a:pt x="76008" y="128675"/>
                    <a:pt x="76008" y="172465"/>
                    <a:pt x="103060" y="199517"/>
                  </a:cubicBezTo>
                  <a:cubicBezTo>
                    <a:pt x="135443" y="231917"/>
                    <a:pt x="206285" y="277835"/>
                    <a:pt x="267866" y="314766"/>
                  </a:cubicBezTo>
                  <a:cubicBezTo>
                    <a:pt x="198189" y="297064"/>
                    <a:pt x="115431" y="279000"/>
                    <a:pt x="69241" y="279000"/>
                  </a:cubicBezTo>
                  <a:cubicBezTo>
                    <a:pt x="30964" y="279000"/>
                    <a:pt x="0" y="309964"/>
                    <a:pt x="0" y="348223"/>
                  </a:cubicBezTo>
                  <a:cubicBezTo>
                    <a:pt x="0" y="386499"/>
                    <a:pt x="30964" y="417463"/>
                    <a:pt x="69241" y="417463"/>
                  </a:cubicBezTo>
                  <a:cubicBezTo>
                    <a:pt x="115067" y="417463"/>
                    <a:pt x="197662" y="399834"/>
                    <a:pt x="267339" y="382406"/>
                  </a:cubicBezTo>
                  <a:cubicBezTo>
                    <a:pt x="205575" y="419155"/>
                    <a:pt x="134297" y="464890"/>
                    <a:pt x="101623" y="497564"/>
                  </a:cubicBezTo>
                  <a:cubicBezTo>
                    <a:pt x="74571" y="524617"/>
                    <a:pt x="74571" y="568387"/>
                    <a:pt x="101623" y="595439"/>
                  </a:cubicBezTo>
                  <a:cubicBezTo>
                    <a:pt x="128694" y="622510"/>
                    <a:pt x="172465" y="622510"/>
                    <a:pt x="199517" y="595439"/>
                  </a:cubicBezTo>
                  <a:cubicBezTo>
                    <a:pt x="231917" y="563057"/>
                    <a:pt x="277835" y="492215"/>
                    <a:pt x="314766" y="430634"/>
                  </a:cubicBezTo>
                  <a:cubicBezTo>
                    <a:pt x="297064" y="500311"/>
                    <a:pt x="279000" y="583087"/>
                    <a:pt x="279000" y="629260"/>
                  </a:cubicBezTo>
                  <a:cubicBezTo>
                    <a:pt x="279000" y="667536"/>
                    <a:pt x="309964" y="698500"/>
                    <a:pt x="348223" y="698500"/>
                  </a:cubicBezTo>
                  <a:cubicBezTo>
                    <a:pt x="386499" y="698500"/>
                    <a:pt x="417463" y="667536"/>
                    <a:pt x="417463" y="629260"/>
                  </a:cubicBezTo>
                  <a:cubicBezTo>
                    <a:pt x="417463" y="583433"/>
                    <a:pt x="399852" y="500858"/>
                    <a:pt x="382406" y="431161"/>
                  </a:cubicBezTo>
                  <a:cubicBezTo>
                    <a:pt x="419155" y="492925"/>
                    <a:pt x="464890" y="564203"/>
                    <a:pt x="497564" y="596877"/>
                  </a:cubicBezTo>
                  <a:cubicBezTo>
                    <a:pt x="524617" y="623929"/>
                    <a:pt x="568406" y="623929"/>
                    <a:pt x="595457" y="596877"/>
                  </a:cubicBezTo>
                  <a:cubicBezTo>
                    <a:pt x="622510" y="569825"/>
                    <a:pt x="622510" y="526035"/>
                    <a:pt x="595457" y="498983"/>
                  </a:cubicBezTo>
                  <a:cubicBezTo>
                    <a:pt x="563057" y="466583"/>
                    <a:pt x="492215" y="420665"/>
                    <a:pt x="430634" y="383734"/>
                  </a:cubicBezTo>
                  <a:cubicBezTo>
                    <a:pt x="500311" y="401453"/>
                    <a:pt x="583087" y="419519"/>
                    <a:pt x="629260" y="419519"/>
                  </a:cubicBezTo>
                  <a:cubicBezTo>
                    <a:pt x="667536" y="419519"/>
                    <a:pt x="698500" y="388536"/>
                    <a:pt x="698500" y="350277"/>
                  </a:cubicBezTo>
                  <a:cubicBezTo>
                    <a:pt x="698500" y="312001"/>
                    <a:pt x="667536" y="281037"/>
                    <a:pt x="629260" y="281037"/>
                  </a:cubicBezTo>
                  <a:close/>
                </a:path>
              </a:pathLst>
            </a:custGeom>
            <a:solidFill>
              <a:srgbClr val="ADA26A"/>
            </a:solidFill>
          </p:spPr>
        </p:sp>
        <p:sp>
          <p:nvSpPr>
            <p:cNvPr name="TextBox 8" id="8"/>
            <p:cNvSpPr txBox="true"/>
            <p:nvPr/>
          </p:nvSpPr>
          <p:spPr>
            <a:xfrm>
              <a:off x="165100" y="79375"/>
              <a:ext cx="368300" cy="454025"/>
            </a:xfrm>
            <a:prstGeom prst="rect">
              <a:avLst/>
            </a:prstGeom>
          </p:spPr>
          <p:txBody>
            <a:bodyPr anchor="ctr" rtlCol="false" tIns="50800" lIns="50800" bIns="50800" rIns="50800"/>
            <a:lstStyle/>
            <a:p>
              <a:pPr algn="ctr">
                <a:lnSpc>
                  <a:spcPts val="2239"/>
                </a:lnSpc>
              </a:pPr>
            </a:p>
          </p:txBody>
        </p:sp>
      </p:grpSp>
      <p:sp>
        <p:nvSpPr>
          <p:cNvPr name="TextBox 9" id="9"/>
          <p:cNvSpPr txBox="true"/>
          <p:nvPr/>
        </p:nvSpPr>
        <p:spPr>
          <a:xfrm rot="0">
            <a:off x="6471951" y="6722803"/>
            <a:ext cx="6341595" cy="730517"/>
          </a:xfrm>
          <a:prstGeom prst="rect">
            <a:avLst/>
          </a:prstGeom>
        </p:spPr>
        <p:txBody>
          <a:bodyPr anchor="t" rtlCol="false" tIns="0" lIns="0" bIns="0" rIns="0">
            <a:spAutoFit/>
          </a:bodyPr>
          <a:lstStyle/>
          <a:p>
            <a:pPr algn="just">
              <a:lnSpc>
                <a:spcPts val="2951"/>
              </a:lnSpc>
            </a:pPr>
            <a:r>
              <a:rPr lang="en-US" sz="2108">
                <a:solidFill>
                  <a:srgbClr val="A59D67"/>
                </a:solidFill>
                <a:latin typeface="Garet Light"/>
                <a:ea typeface="Garet Light"/>
                <a:cs typeface="Garet Light"/>
                <a:sym typeface="Garet Light"/>
              </a:rPr>
              <a:t>Presented by:</a:t>
            </a:r>
          </a:p>
          <a:p>
            <a:pPr algn="just">
              <a:lnSpc>
                <a:spcPts val="2951"/>
              </a:lnSpc>
              <a:spcBef>
                <a:spcPct val="0"/>
              </a:spcBef>
            </a:pPr>
            <a:r>
              <a:rPr lang="en-US" sz="2108">
                <a:solidFill>
                  <a:srgbClr val="B3E4C5"/>
                </a:solidFill>
                <a:latin typeface="Garet Light"/>
                <a:ea typeface="Garet Light"/>
                <a:cs typeface="Garet Light"/>
                <a:sym typeface="Garet Light"/>
              </a:rPr>
              <a:t> Trilok KR  |  Shalini K  |  Varsha R  |  Lathika 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3E4C5"/>
        </a:solidFill>
      </p:bgPr>
    </p:bg>
    <p:spTree>
      <p:nvGrpSpPr>
        <p:cNvPr id="1" name=""/>
        <p:cNvGrpSpPr/>
        <p:nvPr/>
      </p:nvGrpSpPr>
      <p:grpSpPr>
        <a:xfrm>
          <a:off x="0" y="0"/>
          <a:ext cx="0" cy="0"/>
          <a:chOff x="0" y="0"/>
          <a:chExt cx="0" cy="0"/>
        </a:xfrm>
      </p:grpSpPr>
      <p:grpSp>
        <p:nvGrpSpPr>
          <p:cNvPr name="Group 2" id="2"/>
          <p:cNvGrpSpPr/>
          <p:nvPr/>
        </p:nvGrpSpPr>
        <p:grpSpPr>
          <a:xfrm rot="0">
            <a:off x="9144000" y="1028700"/>
            <a:ext cx="8457204" cy="3621080"/>
            <a:chOff x="0" y="0"/>
            <a:chExt cx="1310242" cy="561000"/>
          </a:xfrm>
        </p:grpSpPr>
        <p:sp>
          <p:nvSpPr>
            <p:cNvPr name="Freeform 3" id="3"/>
            <p:cNvSpPr/>
            <p:nvPr/>
          </p:nvSpPr>
          <p:spPr>
            <a:xfrm flipH="false" flipV="false" rot="0">
              <a:off x="0" y="0"/>
              <a:ext cx="1310242" cy="561000"/>
            </a:xfrm>
            <a:custGeom>
              <a:avLst/>
              <a:gdLst/>
              <a:ahLst/>
              <a:cxnLst/>
              <a:rect r="r" b="b" t="t" l="l"/>
              <a:pathLst>
                <a:path h="561000" w="1310242">
                  <a:moveTo>
                    <a:pt x="0" y="0"/>
                  </a:moveTo>
                  <a:lnTo>
                    <a:pt x="1310242" y="0"/>
                  </a:lnTo>
                  <a:lnTo>
                    <a:pt x="1310242" y="561000"/>
                  </a:lnTo>
                  <a:lnTo>
                    <a:pt x="0" y="561000"/>
                  </a:lnTo>
                  <a:close/>
                </a:path>
              </a:pathLst>
            </a:custGeom>
            <a:blipFill>
              <a:blip r:embed="rId2"/>
              <a:stretch>
                <a:fillRect l="0" t="-13748" r="0" b="-13748"/>
              </a:stretch>
            </a:blipFill>
          </p:spPr>
        </p:sp>
      </p:grpSp>
      <p:grpSp>
        <p:nvGrpSpPr>
          <p:cNvPr name="Group 4" id="4"/>
          <p:cNvGrpSpPr/>
          <p:nvPr/>
        </p:nvGrpSpPr>
        <p:grpSpPr>
          <a:xfrm rot="0">
            <a:off x="691745" y="6405192"/>
            <a:ext cx="7801579" cy="2974113"/>
            <a:chOff x="0" y="0"/>
            <a:chExt cx="979141" cy="373268"/>
          </a:xfrm>
        </p:grpSpPr>
        <p:sp>
          <p:nvSpPr>
            <p:cNvPr name="Freeform 5" id="5"/>
            <p:cNvSpPr/>
            <p:nvPr/>
          </p:nvSpPr>
          <p:spPr>
            <a:xfrm flipH="false" flipV="false" rot="0">
              <a:off x="0" y="0"/>
              <a:ext cx="979141" cy="373268"/>
            </a:xfrm>
            <a:custGeom>
              <a:avLst/>
              <a:gdLst/>
              <a:ahLst/>
              <a:cxnLst/>
              <a:rect r="r" b="b" t="t" l="l"/>
              <a:pathLst>
                <a:path h="373268" w="979141">
                  <a:moveTo>
                    <a:pt x="0" y="0"/>
                  </a:moveTo>
                  <a:lnTo>
                    <a:pt x="979141" y="0"/>
                  </a:lnTo>
                  <a:lnTo>
                    <a:pt x="979141" y="373268"/>
                  </a:lnTo>
                  <a:lnTo>
                    <a:pt x="0" y="373268"/>
                  </a:lnTo>
                  <a:close/>
                </a:path>
              </a:pathLst>
            </a:custGeom>
            <a:blipFill>
              <a:blip r:embed="rId3"/>
              <a:stretch>
                <a:fillRect l="0" t="-16933" r="0" b="-26264"/>
              </a:stretch>
            </a:blipFill>
          </p:spPr>
        </p:sp>
      </p:grpSp>
      <p:grpSp>
        <p:nvGrpSpPr>
          <p:cNvPr name="Group 6" id="6"/>
          <p:cNvGrpSpPr/>
          <p:nvPr/>
        </p:nvGrpSpPr>
        <p:grpSpPr>
          <a:xfrm rot="0">
            <a:off x="937680" y="1104550"/>
            <a:ext cx="6628733" cy="455332"/>
            <a:chOff x="0" y="0"/>
            <a:chExt cx="1745839" cy="119923"/>
          </a:xfrm>
        </p:grpSpPr>
        <p:sp>
          <p:nvSpPr>
            <p:cNvPr name="Freeform 7" id="7"/>
            <p:cNvSpPr/>
            <p:nvPr/>
          </p:nvSpPr>
          <p:spPr>
            <a:xfrm flipH="false" flipV="false" rot="0">
              <a:off x="0" y="0"/>
              <a:ext cx="1745839" cy="119923"/>
            </a:xfrm>
            <a:custGeom>
              <a:avLst/>
              <a:gdLst/>
              <a:ahLst/>
              <a:cxnLst/>
              <a:rect r="r" b="b" t="t" l="l"/>
              <a:pathLst>
                <a:path h="119923" w="1745839">
                  <a:moveTo>
                    <a:pt x="0" y="0"/>
                  </a:moveTo>
                  <a:lnTo>
                    <a:pt x="1745839" y="0"/>
                  </a:lnTo>
                  <a:lnTo>
                    <a:pt x="1745839" y="119923"/>
                  </a:lnTo>
                  <a:lnTo>
                    <a:pt x="0" y="119923"/>
                  </a:lnTo>
                  <a:close/>
                </a:path>
              </a:pathLst>
            </a:custGeom>
            <a:solidFill>
              <a:srgbClr val="6C977C">
                <a:alpha val="58824"/>
              </a:srgbClr>
            </a:solidFill>
          </p:spPr>
        </p:sp>
        <p:sp>
          <p:nvSpPr>
            <p:cNvPr name="TextBox 8" id="8"/>
            <p:cNvSpPr txBox="true"/>
            <p:nvPr/>
          </p:nvSpPr>
          <p:spPr>
            <a:xfrm>
              <a:off x="0" y="-38100"/>
              <a:ext cx="1745839" cy="158023"/>
            </a:xfrm>
            <a:prstGeom prst="rect">
              <a:avLst/>
            </a:prstGeom>
          </p:spPr>
          <p:txBody>
            <a:bodyPr anchor="ctr" rtlCol="false" tIns="50800" lIns="50800" bIns="50800" rIns="50800"/>
            <a:lstStyle/>
            <a:p>
              <a:pPr algn="ctr">
                <a:lnSpc>
                  <a:spcPts val="2239"/>
                </a:lnSpc>
              </a:pPr>
            </a:p>
          </p:txBody>
        </p:sp>
      </p:grpSp>
      <p:sp>
        <p:nvSpPr>
          <p:cNvPr name="TextBox 9" id="9"/>
          <p:cNvSpPr txBox="true"/>
          <p:nvPr/>
        </p:nvSpPr>
        <p:spPr>
          <a:xfrm rot="0">
            <a:off x="890055" y="810064"/>
            <a:ext cx="6537712" cy="749818"/>
          </a:xfrm>
          <a:prstGeom prst="rect">
            <a:avLst/>
          </a:prstGeom>
        </p:spPr>
        <p:txBody>
          <a:bodyPr anchor="t" rtlCol="false" tIns="0" lIns="0" bIns="0" rIns="0">
            <a:spAutoFit/>
          </a:bodyPr>
          <a:lstStyle/>
          <a:p>
            <a:pPr algn="r">
              <a:lnSpc>
                <a:spcPts val="5586"/>
              </a:lnSpc>
            </a:pPr>
            <a:r>
              <a:rPr lang="en-US" sz="5700" spc="-359">
                <a:solidFill>
                  <a:srgbClr val="344E41"/>
                </a:solidFill>
                <a:latin typeface="Neue Machina"/>
                <a:ea typeface="Neue Machina"/>
                <a:cs typeface="Neue Machina"/>
                <a:sym typeface="Neue Machina"/>
              </a:rPr>
              <a:t>Problem Statement</a:t>
            </a:r>
          </a:p>
        </p:txBody>
      </p:sp>
      <p:sp>
        <p:nvSpPr>
          <p:cNvPr name="TextBox 10" id="10"/>
          <p:cNvSpPr txBox="true"/>
          <p:nvPr/>
        </p:nvSpPr>
        <p:spPr>
          <a:xfrm rot="0">
            <a:off x="937680" y="1921962"/>
            <a:ext cx="7309709" cy="3683000"/>
          </a:xfrm>
          <a:prstGeom prst="rect">
            <a:avLst/>
          </a:prstGeom>
        </p:spPr>
        <p:txBody>
          <a:bodyPr anchor="t" rtlCol="false" tIns="0" lIns="0" bIns="0" rIns="0">
            <a:spAutoFit/>
          </a:bodyPr>
          <a:lstStyle/>
          <a:p>
            <a:pPr algn="l">
              <a:lnSpc>
                <a:spcPts val="3249"/>
              </a:lnSpc>
            </a:pPr>
            <a:r>
              <a:rPr lang="en-US" sz="2499" spc="-74">
                <a:solidFill>
                  <a:srgbClr val="344E41"/>
                </a:solidFill>
                <a:latin typeface="Open Sauce"/>
                <a:ea typeface="Open Sauce"/>
                <a:cs typeface="Open Sauce"/>
                <a:sym typeface="Open Sauce"/>
              </a:rPr>
              <a:t>Ag</a:t>
            </a:r>
            <a:r>
              <a:rPr lang="en-US" sz="2499" spc="-74">
                <a:solidFill>
                  <a:srgbClr val="344E41"/>
                </a:solidFill>
                <a:latin typeface="Open Sauce"/>
                <a:ea typeface="Open Sauce"/>
                <a:cs typeface="Open Sauce"/>
                <a:sym typeface="Open Sauce"/>
              </a:rPr>
              <a:t>ricultural crop residue is generated in large quantities after harvesting, yet much of it is still treated as waste and openly burned due to the lack of accessible, profitable disposal alternatives. Farmers often struggle to find nearby buyers, transparent prices, and dependable pickup services, while biomass-based industries face difficulty sourcing consistent quantities of suitable crop residue.</a:t>
            </a:r>
          </a:p>
        </p:txBody>
      </p:sp>
      <p:sp>
        <p:nvSpPr>
          <p:cNvPr name="TextBox 11" id="11"/>
          <p:cNvSpPr txBox="true"/>
          <p:nvPr/>
        </p:nvSpPr>
        <p:spPr>
          <a:xfrm rot="0">
            <a:off x="9717748" y="5286730"/>
            <a:ext cx="7309709" cy="4502150"/>
          </a:xfrm>
          <a:prstGeom prst="rect">
            <a:avLst/>
          </a:prstGeom>
        </p:spPr>
        <p:txBody>
          <a:bodyPr anchor="t" rtlCol="false" tIns="0" lIns="0" bIns="0" rIns="0">
            <a:spAutoFit/>
          </a:bodyPr>
          <a:lstStyle/>
          <a:p>
            <a:pPr algn="l">
              <a:lnSpc>
                <a:spcPts val="3249"/>
              </a:lnSpc>
            </a:pPr>
            <a:r>
              <a:rPr lang="en-US" sz="2499" spc="-74">
                <a:solidFill>
                  <a:srgbClr val="344E41"/>
                </a:solidFill>
                <a:latin typeface="Open Sauce"/>
                <a:ea typeface="Open Sauce"/>
                <a:cs typeface="Open Sauce"/>
                <a:sym typeface="Open Sauce"/>
              </a:rPr>
              <a:t>h</a:t>
            </a:r>
            <a:r>
              <a:rPr lang="en-US" sz="2499" spc="-74">
                <a:solidFill>
                  <a:srgbClr val="344E41"/>
                </a:solidFill>
                <a:latin typeface="Open Sauce"/>
                <a:ea typeface="Open Sauce"/>
                <a:cs typeface="Open Sauce"/>
                <a:sym typeface="Open Sauce"/>
              </a:rPr>
              <a:t>is disconnect creates a broken supply chain where valuable biomass is wasted, farmers lose potential income, and residue burning contributes to air pollution, greenhouse-gas emissions, and soil degradation.</a:t>
            </a:r>
          </a:p>
          <a:p>
            <a:pPr algn="l">
              <a:lnSpc>
                <a:spcPts val="3249"/>
              </a:lnSpc>
            </a:pPr>
          </a:p>
          <a:p>
            <a:pPr algn="l">
              <a:lnSpc>
                <a:spcPts val="3249"/>
              </a:lnSpc>
            </a:pPr>
            <a:r>
              <a:rPr lang="en-US" sz="2499" spc="-74">
                <a:solidFill>
                  <a:srgbClr val="344E41"/>
                </a:solidFill>
                <a:latin typeface="Open Sauce"/>
                <a:ea typeface="Open Sauce"/>
                <a:cs typeface="Open Sauce"/>
                <a:sym typeface="Open Sauce"/>
              </a:rPr>
              <a:t>AgriLoop addresses this gap by creating a digital marketplace that connects farmers directly with biomass buyers and logistics providers, making crop residue easier to sell, collect, and reuse.</a:t>
            </a:r>
          </a:p>
          <a:p>
            <a:pPr algn="l">
              <a:lnSpc>
                <a:spcPts val="324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3E4C5"/>
        </a:solidFill>
      </p:bgPr>
    </p:bg>
    <p:spTree>
      <p:nvGrpSpPr>
        <p:cNvPr id="1" name=""/>
        <p:cNvGrpSpPr/>
        <p:nvPr/>
      </p:nvGrpSpPr>
      <p:grpSpPr>
        <a:xfrm>
          <a:off x="0" y="0"/>
          <a:ext cx="0" cy="0"/>
          <a:chOff x="0" y="0"/>
          <a:chExt cx="0" cy="0"/>
        </a:xfrm>
      </p:grpSpPr>
      <p:grpSp>
        <p:nvGrpSpPr>
          <p:cNvPr name="Group 2" id="2"/>
          <p:cNvGrpSpPr/>
          <p:nvPr/>
        </p:nvGrpSpPr>
        <p:grpSpPr>
          <a:xfrm rot="0">
            <a:off x="0" y="0"/>
            <a:ext cx="6877622" cy="10287000"/>
            <a:chOff x="0" y="0"/>
            <a:chExt cx="9170163" cy="13716000"/>
          </a:xfrm>
        </p:grpSpPr>
        <p:pic>
          <p:nvPicPr>
            <p:cNvPr name="Picture 3" id="3"/>
            <p:cNvPicPr>
              <a:picLocks noChangeAspect="true"/>
            </p:cNvPicPr>
            <p:nvPr/>
          </p:nvPicPr>
          <p:blipFill>
            <a:blip r:embed="rId2"/>
            <a:srcRect l="0" t="0" r="0" b="16449"/>
            <a:stretch>
              <a:fillRect/>
            </a:stretch>
          </p:blipFill>
          <p:spPr>
            <a:xfrm flipH="false" flipV="false">
              <a:off x="0" y="0"/>
              <a:ext cx="9170163" cy="13716000"/>
            </a:xfrm>
            <a:prstGeom prst="rect">
              <a:avLst/>
            </a:prstGeom>
          </p:spPr>
        </p:pic>
      </p:grpSp>
      <p:grpSp>
        <p:nvGrpSpPr>
          <p:cNvPr name="Group 4" id="4"/>
          <p:cNvGrpSpPr/>
          <p:nvPr/>
        </p:nvGrpSpPr>
        <p:grpSpPr>
          <a:xfrm rot="0">
            <a:off x="7589518" y="700944"/>
            <a:ext cx="6260119" cy="455332"/>
            <a:chOff x="0" y="0"/>
            <a:chExt cx="1648756" cy="119923"/>
          </a:xfrm>
        </p:grpSpPr>
        <p:sp>
          <p:nvSpPr>
            <p:cNvPr name="Freeform 5" id="5"/>
            <p:cNvSpPr/>
            <p:nvPr/>
          </p:nvSpPr>
          <p:spPr>
            <a:xfrm flipH="false" flipV="false" rot="0">
              <a:off x="0" y="0"/>
              <a:ext cx="1648756" cy="119923"/>
            </a:xfrm>
            <a:custGeom>
              <a:avLst/>
              <a:gdLst/>
              <a:ahLst/>
              <a:cxnLst/>
              <a:rect r="r" b="b" t="t" l="l"/>
              <a:pathLst>
                <a:path h="119923" w="1648756">
                  <a:moveTo>
                    <a:pt x="0" y="0"/>
                  </a:moveTo>
                  <a:lnTo>
                    <a:pt x="1648756" y="0"/>
                  </a:lnTo>
                  <a:lnTo>
                    <a:pt x="1648756" y="119923"/>
                  </a:lnTo>
                  <a:lnTo>
                    <a:pt x="0" y="119923"/>
                  </a:lnTo>
                  <a:close/>
                </a:path>
              </a:pathLst>
            </a:custGeom>
            <a:solidFill>
              <a:srgbClr val="6C977C">
                <a:alpha val="58824"/>
              </a:srgbClr>
            </a:solidFill>
          </p:spPr>
        </p:sp>
        <p:sp>
          <p:nvSpPr>
            <p:cNvPr name="TextBox 6" id="6"/>
            <p:cNvSpPr txBox="true"/>
            <p:nvPr/>
          </p:nvSpPr>
          <p:spPr>
            <a:xfrm>
              <a:off x="0" y="-38100"/>
              <a:ext cx="1648756" cy="158023"/>
            </a:xfrm>
            <a:prstGeom prst="rect">
              <a:avLst/>
            </a:prstGeom>
          </p:spPr>
          <p:txBody>
            <a:bodyPr anchor="ctr" rtlCol="false" tIns="50800" lIns="50800" bIns="50800" rIns="50800"/>
            <a:lstStyle/>
            <a:p>
              <a:pPr algn="ctr">
                <a:lnSpc>
                  <a:spcPts val="2239"/>
                </a:lnSpc>
              </a:pPr>
            </a:p>
          </p:txBody>
        </p:sp>
      </p:grpSp>
      <p:sp>
        <p:nvSpPr>
          <p:cNvPr name="TextBox 7" id="7"/>
          <p:cNvSpPr txBox="true"/>
          <p:nvPr/>
        </p:nvSpPr>
        <p:spPr>
          <a:xfrm rot="0">
            <a:off x="7589518" y="1575782"/>
            <a:ext cx="9669782" cy="7880350"/>
          </a:xfrm>
          <a:prstGeom prst="rect">
            <a:avLst/>
          </a:prstGeom>
        </p:spPr>
        <p:txBody>
          <a:bodyPr anchor="t" rtlCol="false" tIns="0" lIns="0" bIns="0" rIns="0">
            <a:spAutoFit/>
          </a:bodyPr>
          <a:lstStyle/>
          <a:p>
            <a:pPr algn="l" marL="539753" indent="-269876" lvl="1">
              <a:lnSpc>
                <a:spcPts val="3500"/>
              </a:lnSpc>
              <a:buFont typeface="Arial"/>
              <a:buChar char="•"/>
            </a:pPr>
            <a:r>
              <a:rPr lang="en-US" sz="2500">
                <a:solidFill>
                  <a:srgbClr val="191E13"/>
                </a:solidFill>
                <a:latin typeface="Garet Light"/>
                <a:ea typeface="Garet Light"/>
                <a:cs typeface="Garet Light"/>
                <a:sym typeface="Garet Light"/>
              </a:rPr>
              <a:t>AgriLoop is an AI-powered digital marketplace that connects farmers, biomass buyers, and logistics providers on one platform. Farmers can list crop residue, while AI matches available supply with nearby demand based on type, quantity, quality, and distance. Integrated route optimization and GPS tracking simplify collection and delivery, turning agricultural waste into a profitable and usable resource.</a:t>
            </a:r>
          </a:p>
          <a:p>
            <a:pPr algn="l">
              <a:lnSpc>
                <a:spcPts val="3500"/>
              </a:lnSpc>
            </a:pPr>
          </a:p>
          <a:p>
            <a:pPr algn="l" marL="539753" indent="-269876" lvl="1">
              <a:lnSpc>
                <a:spcPts val="3500"/>
              </a:lnSpc>
              <a:buFont typeface="Arial"/>
              <a:buChar char="•"/>
            </a:pPr>
            <a:r>
              <a:rPr lang="en-US" sz="2500">
                <a:solidFill>
                  <a:srgbClr val="191E13"/>
                </a:solidFill>
                <a:latin typeface="Garet Light"/>
                <a:ea typeface="Garet Light"/>
                <a:cs typeface="Garet Light"/>
                <a:sym typeface="Garet Light"/>
              </a:rPr>
              <a:t>AgriLoop transforms agricultural crop waste into a profitable resource by digitally connecting farmers with biomass buyers and logistics providers. Farmers can list available residue with minimal effort, while AI identifies suitable buyers based on residue type, quantity, location, demand, and pickup feasibility. The platform coordinates collection, optimizes transportation, and enables transparent digital transactions. </a:t>
            </a:r>
          </a:p>
        </p:txBody>
      </p:sp>
      <p:sp>
        <p:nvSpPr>
          <p:cNvPr name="TextBox 8" id="8"/>
          <p:cNvSpPr txBox="true"/>
          <p:nvPr/>
        </p:nvSpPr>
        <p:spPr>
          <a:xfrm rot="0">
            <a:off x="7646668" y="406459"/>
            <a:ext cx="6121473" cy="749818"/>
          </a:xfrm>
          <a:prstGeom prst="rect">
            <a:avLst/>
          </a:prstGeom>
        </p:spPr>
        <p:txBody>
          <a:bodyPr anchor="t" rtlCol="false" tIns="0" lIns="0" bIns="0" rIns="0">
            <a:spAutoFit/>
          </a:bodyPr>
          <a:lstStyle/>
          <a:p>
            <a:pPr algn="r">
              <a:lnSpc>
                <a:spcPts val="5586"/>
              </a:lnSpc>
            </a:pPr>
            <a:r>
              <a:rPr lang="en-US" sz="5700" spc="-359">
                <a:solidFill>
                  <a:srgbClr val="344E41"/>
                </a:solidFill>
                <a:latin typeface="Neue Machina"/>
                <a:ea typeface="Neue Machina"/>
                <a:cs typeface="Neue Machina"/>
                <a:sym typeface="Neue Machina"/>
              </a:rPr>
              <a:t>Proposed Solution</a:t>
            </a:r>
          </a:p>
        </p:txBody>
      </p:sp>
      <p:sp>
        <p:nvSpPr>
          <p:cNvPr name="Freeform 9" id="9"/>
          <p:cNvSpPr/>
          <p:nvPr/>
        </p:nvSpPr>
        <p:spPr>
          <a:xfrm flipH="false" flipV="false" rot="0">
            <a:off x="13998115" y="9456131"/>
            <a:ext cx="7315200" cy="2335721"/>
          </a:xfrm>
          <a:custGeom>
            <a:avLst/>
            <a:gdLst/>
            <a:ahLst/>
            <a:cxnLst/>
            <a:rect r="r" b="b" t="t" l="l"/>
            <a:pathLst>
              <a:path h="2335721" w="7315200">
                <a:moveTo>
                  <a:pt x="0" y="0"/>
                </a:moveTo>
                <a:lnTo>
                  <a:pt x="7315200" y="0"/>
                </a:lnTo>
                <a:lnTo>
                  <a:pt x="7315200" y="2335721"/>
                </a:lnTo>
                <a:lnTo>
                  <a:pt x="0" y="23357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3E4C5"/>
        </a:solidFill>
      </p:bgPr>
    </p:bg>
    <p:spTree>
      <p:nvGrpSpPr>
        <p:cNvPr id="1" name=""/>
        <p:cNvGrpSpPr/>
        <p:nvPr/>
      </p:nvGrpSpPr>
      <p:grpSpPr>
        <a:xfrm>
          <a:off x="0" y="0"/>
          <a:ext cx="0" cy="0"/>
          <a:chOff x="0" y="0"/>
          <a:chExt cx="0" cy="0"/>
        </a:xfrm>
      </p:grpSpPr>
      <p:sp>
        <p:nvSpPr>
          <p:cNvPr name="Freeform 2" id="2"/>
          <p:cNvSpPr/>
          <p:nvPr/>
        </p:nvSpPr>
        <p:spPr>
          <a:xfrm flipH="false" flipV="false" rot="0">
            <a:off x="0" y="4953051"/>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38" y="2274775"/>
            <a:ext cx="8218714" cy="6344767"/>
          </a:xfrm>
          <a:custGeom>
            <a:avLst/>
            <a:gdLst/>
            <a:ahLst/>
            <a:cxnLst/>
            <a:rect r="r" b="b" t="t" l="l"/>
            <a:pathLst>
              <a:path h="6344767" w="8218714">
                <a:moveTo>
                  <a:pt x="0" y="0"/>
                </a:moveTo>
                <a:lnTo>
                  <a:pt x="8218715" y="0"/>
                </a:lnTo>
                <a:lnTo>
                  <a:pt x="8218715" y="6344766"/>
                </a:lnTo>
                <a:lnTo>
                  <a:pt x="0" y="6344766"/>
                </a:lnTo>
                <a:lnTo>
                  <a:pt x="0" y="0"/>
                </a:lnTo>
                <a:close/>
              </a:path>
            </a:pathLst>
          </a:custGeom>
          <a:blipFill>
            <a:blip r:embed="rId4"/>
            <a:stretch>
              <a:fillRect l="-1850" t="-2812" r="-1861" b="-98701"/>
            </a:stretch>
          </a:blipFill>
        </p:spPr>
      </p:sp>
      <p:sp>
        <p:nvSpPr>
          <p:cNvPr name="Freeform 4" id="4"/>
          <p:cNvSpPr/>
          <p:nvPr/>
        </p:nvSpPr>
        <p:spPr>
          <a:xfrm flipH="false" flipV="false" rot="0">
            <a:off x="8745853" y="2228919"/>
            <a:ext cx="9015009" cy="6475907"/>
          </a:xfrm>
          <a:custGeom>
            <a:avLst/>
            <a:gdLst/>
            <a:ahLst/>
            <a:cxnLst/>
            <a:rect r="r" b="b" t="t" l="l"/>
            <a:pathLst>
              <a:path h="6475907" w="9015009">
                <a:moveTo>
                  <a:pt x="0" y="0"/>
                </a:moveTo>
                <a:lnTo>
                  <a:pt x="9015009" y="0"/>
                </a:lnTo>
                <a:lnTo>
                  <a:pt x="9015009" y="6475907"/>
                </a:lnTo>
                <a:lnTo>
                  <a:pt x="0" y="6475907"/>
                </a:lnTo>
                <a:lnTo>
                  <a:pt x="0" y="0"/>
                </a:lnTo>
                <a:close/>
              </a:path>
            </a:pathLst>
          </a:custGeom>
          <a:blipFill>
            <a:blip r:embed="rId4"/>
            <a:stretch>
              <a:fillRect l="-2471" t="-117371" r="-2979" b="-2824"/>
            </a:stretch>
          </a:blipFill>
        </p:spPr>
      </p:sp>
      <p:grpSp>
        <p:nvGrpSpPr>
          <p:cNvPr name="Group 5" id="5"/>
          <p:cNvGrpSpPr/>
          <p:nvPr/>
        </p:nvGrpSpPr>
        <p:grpSpPr>
          <a:xfrm rot="0">
            <a:off x="4192227" y="1328310"/>
            <a:ext cx="8967599" cy="455332"/>
            <a:chOff x="0" y="0"/>
            <a:chExt cx="2361837" cy="119923"/>
          </a:xfrm>
        </p:grpSpPr>
        <p:sp>
          <p:nvSpPr>
            <p:cNvPr name="Freeform 6" id="6"/>
            <p:cNvSpPr/>
            <p:nvPr/>
          </p:nvSpPr>
          <p:spPr>
            <a:xfrm flipH="false" flipV="false" rot="0">
              <a:off x="0" y="0"/>
              <a:ext cx="2361837" cy="119923"/>
            </a:xfrm>
            <a:custGeom>
              <a:avLst/>
              <a:gdLst/>
              <a:ahLst/>
              <a:cxnLst/>
              <a:rect r="r" b="b" t="t" l="l"/>
              <a:pathLst>
                <a:path h="119923" w="2361837">
                  <a:moveTo>
                    <a:pt x="0" y="0"/>
                  </a:moveTo>
                  <a:lnTo>
                    <a:pt x="2361837" y="0"/>
                  </a:lnTo>
                  <a:lnTo>
                    <a:pt x="2361837" y="119923"/>
                  </a:lnTo>
                  <a:lnTo>
                    <a:pt x="0" y="119923"/>
                  </a:lnTo>
                  <a:close/>
                </a:path>
              </a:pathLst>
            </a:custGeom>
            <a:solidFill>
              <a:srgbClr val="6C977C">
                <a:alpha val="58824"/>
              </a:srgbClr>
            </a:solidFill>
          </p:spPr>
        </p:sp>
        <p:sp>
          <p:nvSpPr>
            <p:cNvPr name="TextBox 7" id="7"/>
            <p:cNvSpPr txBox="true"/>
            <p:nvPr/>
          </p:nvSpPr>
          <p:spPr>
            <a:xfrm>
              <a:off x="0" y="-38100"/>
              <a:ext cx="2361837" cy="158023"/>
            </a:xfrm>
            <a:prstGeom prst="rect">
              <a:avLst/>
            </a:prstGeom>
          </p:spPr>
          <p:txBody>
            <a:bodyPr anchor="ctr" rtlCol="false" tIns="50800" lIns="50800" bIns="50800" rIns="50800"/>
            <a:lstStyle/>
            <a:p>
              <a:pPr algn="ctr">
                <a:lnSpc>
                  <a:spcPts val="2239"/>
                </a:lnSpc>
              </a:pPr>
            </a:p>
          </p:txBody>
        </p:sp>
      </p:grpSp>
      <p:sp>
        <p:nvSpPr>
          <p:cNvPr name="TextBox 8" id="8"/>
          <p:cNvSpPr txBox="true"/>
          <p:nvPr/>
        </p:nvSpPr>
        <p:spPr>
          <a:xfrm rot="0">
            <a:off x="4116887" y="675847"/>
            <a:ext cx="9061130" cy="1295400"/>
          </a:xfrm>
          <a:prstGeom prst="rect">
            <a:avLst/>
          </a:prstGeom>
        </p:spPr>
        <p:txBody>
          <a:bodyPr anchor="t" rtlCol="false" tIns="0" lIns="0" bIns="0" rIns="0">
            <a:spAutoFit/>
          </a:bodyPr>
          <a:lstStyle/>
          <a:p>
            <a:pPr algn="l">
              <a:lnSpc>
                <a:spcPts val="10144"/>
              </a:lnSpc>
            </a:pPr>
            <a:r>
              <a:rPr lang="en-US" sz="8454">
                <a:solidFill>
                  <a:srgbClr val="344E41"/>
                </a:solidFill>
                <a:latin typeface="Neue Machina"/>
                <a:ea typeface="Neue Machina"/>
                <a:cs typeface="Neue Machina"/>
                <a:sym typeface="Neue Machina"/>
              </a:rPr>
              <a:t>Technical Stack</a:t>
            </a:r>
          </a:p>
        </p:txBody>
      </p:sp>
      <p:sp>
        <p:nvSpPr>
          <p:cNvPr name="Freeform 9" id="9"/>
          <p:cNvSpPr/>
          <p:nvPr/>
        </p:nvSpPr>
        <p:spPr>
          <a:xfrm flipH="false" flipV="false" rot="-10800000">
            <a:off x="-4312003" y="-4820128"/>
            <a:ext cx="10252392" cy="10287000"/>
          </a:xfrm>
          <a:custGeom>
            <a:avLst/>
            <a:gdLst/>
            <a:ahLst/>
            <a:cxnLst/>
            <a:rect r="r" b="b" t="t" l="l"/>
            <a:pathLst>
              <a:path h="10287000" w="10252392">
                <a:moveTo>
                  <a:pt x="0" y="0"/>
                </a:moveTo>
                <a:lnTo>
                  <a:pt x="10252392" y="0"/>
                </a:lnTo>
                <a:lnTo>
                  <a:pt x="10252392"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78377"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3E4C5"/>
        </a:solidFill>
      </p:bgPr>
    </p:bg>
    <p:spTree>
      <p:nvGrpSpPr>
        <p:cNvPr id="1" name=""/>
        <p:cNvGrpSpPr/>
        <p:nvPr/>
      </p:nvGrpSpPr>
      <p:grpSpPr>
        <a:xfrm>
          <a:off x="0" y="0"/>
          <a:ext cx="0" cy="0"/>
          <a:chOff x="0" y="0"/>
          <a:chExt cx="0" cy="0"/>
        </a:xfrm>
      </p:grpSpPr>
      <p:sp>
        <p:nvSpPr>
          <p:cNvPr name="Freeform 2" id="2"/>
          <p:cNvSpPr/>
          <p:nvPr/>
        </p:nvSpPr>
        <p:spPr>
          <a:xfrm flipH="false" flipV="false" rot="0">
            <a:off x="-6575353" y="-6860508"/>
            <a:ext cx="15181303" cy="15181303"/>
          </a:xfrm>
          <a:custGeom>
            <a:avLst/>
            <a:gdLst/>
            <a:ahLst/>
            <a:cxnLst/>
            <a:rect r="r" b="b" t="t" l="l"/>
            <a:pathLst>
              <a:path h="15181303" w="15181303">
                <a:moveTo>
                  <a:pt x="0" y="0"/>
                </a:moveTo>
                <a:lnTo>
                  <a:pt x="15181304" y="0"/>
                </a:lnTo>
                <a:lnTo>
                  <a:pt x="15181304" y="15181303"/>
                </a:lnTo>
                <a:lnTo>
                  <a:pt x="0" y="15181303"/>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776136" y="2386291"/>
            <a:ext cx="3694997" cy="3551562"/>
            <a:chOff x="0" y="0"/>
            <a:chExt cx="852425" cy="819180"/>
          </a:xfrm>
        </p:grpSpPr>
        <p:sp>
          <p:nvSpPr>
            <p:cNvPr name="Freeform 4" id="4"/>
            <p:cNvSpPr/>
            <p:nvPr/>
          </p:nvSpPr>
          <p:spPr>
            <a:xfrm flipH="false" flipV="false" rot="0">
              <a:off x="6348" y="0"/>
              <a:ext cx="839730" cy="817882"/>
            </a:xfrm>
            <a:custGeom>
              <a:avLst/>
              <a:gdLst/>
              <a:ahLst/>
              <a:cxnLst/>
              <a:rect r="r" b="b" t="t" l="l"/>
              <a:pathLst>
                <a:path h="817882" w="839730">
                  <a:moveTo>
                    <a:pt x="563711" y="24666"/>
                  </a:moveTo>
                  <a:lnTo>
                    <a:pt x="564207" y="24843"/>
                  </a:lnTo>
                  <a:cubicBezTo>
                    <a:pt x="609714" y="41050"/>
                    <a:pt x="652116" y="64920"/>
                    <a:pt x="689577" y="95420"/>
                  </a:cubicBezTo>
                  <a:lnTo>
                    <a:pt x="689577" y="95420"/>
                  </a:lnTo>
                  <a:cubicBezTo>
                    <a:pt x="727020" y="125904"/>
                    <a:pt x="758777" y="162769"/>
                    <a:pt x="783383" y="204312"/>
                  </a:cubicBezTo>
                  <a:lnTo>
                    <a:pt x="784142" y="205592"/>
                  </a:lnTo>
                  <a:cubicBezTo>
                    <a:pt x="808365" y="246489"/>
                    <a:pt x="825056" y="291398"/>
                    <a:pt x="833424" y="338188"/>
                  </a:cubicBezTo>
                  <a:lnTo>
                    <a:pt x="833424" y="338188"/>
                  </a:lnTo>
                  <a:cubicBezTo>
                    <a:pt x="841794" y="384989"/>
                    <a:pt x="841832" y="432900"/>
                    <a:pt x="833536" y="479714"/>
                  </a:cubicBezTo>
                  <a:lnTo>
                    <a:pt x="833424" y="480344"/>
                  </a:lnTo>
                  <a:cubicBezTo>
                    <a:pt x="825059" y="527549"/>
                    <a:pt x="808151" y="572832"/>
                    <a:pt x="783532" y="613969"/>
                  </a:cubicBezTo>
                  <a:lnTo>
                    <a:pt x="783477" y="614061"/>
                  </a:lnTo>
                  <a:cubicBezTo>
                    <a:pt x="758804" y="655288"/>
                    <a:pt x="727125" y="691892"/>
                    <a:pt x="689867" y="722227"/>
                  </a:cubicBezTo>
                  <a:lnTo>
                    <a:pt x="689577" y="722463"/>
                  </a:lnTo>
                  <a:cubicBezTo>
                    <a:pt x="652116" y="752963"/>
                    <a:pt x="609714" y="776832"/>
                    <a:pt x="564207" y="793040"/>
                  </a:cubicBezTo>
                  <a:lnTo>
                    <a:pt x="563711" y="793216"/>
                  </a:lnTo>
                  <a:cubicBezTo>
                    <a:pt x="517878" y="809539"/>
                    <a:pt x="469585" y="817882"/>
                    <a:pt x="420931" y="817882"/>
                  </a:cubicBezTo>
                  <a:lnTo>
                    <a:pt x="418798" y="817882"/>
                  </a:lnTo>
                  <a:cubicBezTo>
                    <a:pt x="370145" y="817882"/>
                    <a:pt x="321851" y="809539"/>
                    <a:pt x="276018" y="793216"/>
                  </a:cubicBezTo>
                  <a:lnTo>
                    <a:pt x="275523" y="793040"/>
                  </a:lnTo>
                  <a:cubicBezTo>
                    <a:pt x="230015" y="776832"/>
                    <a:pt x="187614" y="752963"/>
                    <a:pt x="150152" y="722463"/>
                  </a:cubicBezTo>
                  <a:lnTo>
                    <a:pt x="149863" y="722227"/>
                  </a:lnTo>
                  <a:cubicBezTo>
                    <a:pt x="112604" y="691892"/>
                    <a:pt x="80925" y="655288"/>
                    <a:pt x="56252" y="614061"/>
                  </a:cubicBezTo>
                  <a:lnTo>
                    <a:pt x="56197" y="613969"/>
                  </a:lnTo>
                  <a:cubicBezTo>
                    <a:pt x="31578" y="572832"/>
                    <a:pt x="14670" y="527549"/>
                    <a:pt x="6305" y="480344"/>
                  </a:cubicBezTo>
                  <a:lnTo>
                    <a:pt x="6194" y="479714"/>
                  </a:lnTo>
                  <a:cubicBezTo>
                    <a:pt x="-2102" y="432900"/>
                    <a:pt x="-2064" y="384989"/>
                    <a:pt x="6305" y="338188"/>
                  </a:cubicBezTo>
                  <a:lnTo>
                    <a:pt x="6305" y="338188"/>
                  </a:lnTo>
                  <a:cubicBezTo>
                    <a:pt x="14673" y="291398"/>
                    <a:pt x="31364" y="246489"/>
                    <a:pt x="55587" y="205592"/>
                  </a:cubicBezTo>
                  <a:lnTo>
                    <a:pt x="56346" y="204312"/>
                  </a:lnTo>
                  <a:cubicBezTo>
                    <a:pt x="80952" y="162769"/>
                    <a:pt x="112709" y="125904"/>
                    <a:pt x="150152" y="95420"/>
                  </a:cubicBezTo>
                  <a:lnTo>
                    <a:pt x="150152" y="95420"/>
                  </a:lnTo>
                  <a:cubicBezTo>
                    <a:pt x="187614" y="64920"/>
                    <a:pt x="230015" y="41050"/>
                    <a:pt x="275523" y="24843"/>
                  </a:cubicBezTo>
                  <a:lnTo>
                    <a:pt x="276018" y="24666"/>
                  </a:lnTo>
                  <a:cubicBezTo>
                    <a:pt x="321851" y="8343"/>
                    <a:pt x="370145" y="0"/>
                    <a:pt x="418798" y="0"/>
                  </a:cubicBezTo>
                  <a:lnTo>
                    <a:pt x="420931" y="0"/>
                  </a:lnTo>
                  <a:cubicBezTo>
                    <a:pt x="469585" y="0"/>
                    <a:pt x="517878" y="8343"/>
                    <a:pt x="563711" y="24666"/>
                  </a:cubicBezTo>
                  <a:close/>
                </a:path>
              </a:pathLst>
            </a:custGeom>
            <a:solidFill>
              <a:srgbClr val="0B4236"/>
            </a:solidFill>
          </p:spPr>
        </p:sp>
        <p:sp>
          <p:nvSpPr>
            <p:cNvPr name="TextBox 5" id="5"/>
            <p:cNvSpPr txBox="true"/>
            <p:nvPr/>
          </p:nvSpPr>
          <p:spPr>
            <a:xfrm>
              <a:off x="128096" y="61395"/>
              <a:ext cx="596233" cy="638106"/>
            </a:xfrm>
            <a:prstGeom prst="rect">
              <a:avLst/>
            </a:prstGeom>
          </p:spPr>
          <p:txBody>
            <a:bodyPr anchor="ctr" rtlCol="false" tIns="254000" lIns="254000" bIns="254000" rIns="254000"/>
            <a:lstStyle/>
            <a:p>
              <a:pPr algn="ctr">
                <a:lnSpc>
                  <a:spcPts val="3499"/>
                </a:lnSpc>
              </a:pPr>
              <a:r>
                <a:rPr lang="en-US" sz="2499">
                  <a:solidFill>
                    <a:srgbClr val="B3E4C5"/>
                  </a:solidFill>
                  <a:latin typeface="Neue Machina"/>
                  <a:ea typeface="Neue Machina"/>
                  <a:cs typeface="Neue Machina"/>
                  <a:sym typeface="Neue Machina"/>
                </a:rPr>
                <a:t>Methodology</a:t>
              </a:r>
            </a:p>
          </p:txBody>
        </p:sp>
      </p:grpSp>
      <p:grpSp>
        <p:nvGrpSpPr>
          <p:cNvPr name="Group 6" id="6"/>
          <p:cNvGrpSpPr/>
          <p:nvPr/>
        </p:nvGrpSpPr>
        <p:grpSpPr>
          <a:xfrm rot="0">
            <a:off x="5033763" y="6477051"/>
            <a:ext cx="1742542" cy="1090322"/>
            <a:chOff x="0" y="0"/>
            <a:chExt cx="851072" cy="532522"/>
          </a:xfrm>
        </p:grpSpPr>
        <p:sp>
          <p:nvSpPr>
            <p:cNvPr name="Freeform 7" id="7"/>
            <p:cNvSpPr/>
            <p:nvPr/>
          </p:nvSpPr>
          <p:spPr>
            <a:xfrm flipH="false" flipV="false" rot="0">
              <a:off x="0" y="0"/>
              <a:ext cx="851072" cy="532522"/>
            </a:xfrm>
            <a:custGeom>
              <a:avLst/>
              <a:gdLst/>
              <a:ahLst/>
              <a:cxnLst/>
              <a:rect r="r" b="b" t="t" l="l"/>
              <a:pathLst>
                <a:path h="532522" w="851072">
                  <a:moveTo>
                    <a:pt x="0" y="0"/>
                  </a:moveTo>
                  <a:lnTo>
                    <a:pt x="851072" y="0"/>
                  </a:lnTo>
                  <a:lnTo>
                    <a:pt x="851072" y="532522"/>
                  </a:lnTo>
                  <a:lnTo>
                    <a:pt x="0" y="532522"/>
                  </a:lnTo>
                  <a:close/>
                </a:path>
              </a:pathLst>
            </a:custGeom>
            <a:solidFill>
              <a:srgbClr val="258671"/>
            </a:solidFill>
            <a:ln cap="sq">
              <a:noFill/>
              <a:prstDash val="sysDot"/>
              <a:miter/>
            </a:ln>
          </p:spPr>
        </p:sp>
        <p:sp>
          <p:nvSpPr>
            <p:cNvPr name="TextBox 8" id="8"/>
            <p:cNvSpPr txBox="true"/>
            <p:nvPr/>
          </p:nvSpPr>
          <p:spPr>
            <a:xfrm>
              <a:off x="0" y="-28575"/>
              <a:ext cx="851072" cy="561097"/>
            </a:xfrm>
            <a:prstGeom prst="rect">
              <a:avLst/>
            </a:prstGeom>
          </p:spPr>
          <p:txBody>
            <a:bodyPr anchor="ctr" rtlCol="false" tIns="254000" lIns="254000" bIns="254000" rIns="254000"/>
            <a:lstStyle/>
            <a:p>
              <a:pPr algn="ctr">
                <a:lnSpc>
                  <a:spcPts val="2100"/>
                </a:lnSpc>
              </a:pPr>
              <a:r>
                <a:rPr lang="en-US" sz="1500">
                  <a:solidFill>
                    <a:srgbClr val="FFFFFF"/>
                  </a:solidFill>
                  <a:latin typeface="Garet Light"/>
                  <a:ea typeface="Garet Light"/>
                  <a:cs typeface="Garet Light"/>
                  <a:sym typeface="Garet Light"/>
                </a:rPr>
                <a:t> Smart Logistics</a:t>
              </a:r>
            </a:p>
          </p:txBody>
        </p:sp>
      </p:grpSp>
      <p:grpSp>
        <p:nvGrpSpPr>
          <p:cNvPr name="Group 9" id="9"/>
          <p:cNvGrpSpPr/>
          <p:nvPr/>
        </p:nvGrpSpPr>
        <p:grpSpPr>
          <a:xfrm rot="0">
            <a:off x="8413210" y="1560195"/>
            <a:ext cx="1935282" cy="1090322"/>
            <a:chOff x="0" y="0"/>
            <a:chExt cx="945208" cy="532522"/>
          </a:xfrm>
        </p:grpSpPr>
        <p:sp>
          <p:nvSpPr>
            <p:cNvPr name="Freeform 10" id="10"/>
            <p:cNvSpPr/>
            <p:nvPr/>
          </p:nvSpPr>
          <p:spPr>
            <a:xfrm flipH="false" flipV="false" rot="0">
              <a:off x="0" y="0"/>
              <a:ext cx="945208" cy="532522"/>
            </a:xfrm>
            <a:custGeom>
              <a:avLst/>
              <a:gdLst/>
              <a:ahLst/>
              <a:cxnLst/>
              <a:rect r="r" b="b" t="t" l="l"/>
              <a:pathLst>
                <a:path h="532522" w="945208">
                  <a:moveTo>
                    <a:pt x="0" y="0"/>
                  </a:moveTo>
                  <a:lnTo>
                    <a:pt x="945208" y="0"/>
                  </a:lnTo>
                  <a:lnTo>
                    <a:pt x="945208" y="532522"/>
                  </a:lnTo>
                  <a:lnTo>
                    <a:pt x="0" y="532522"/>
                  </a:lnTo>
                  <a:close/>
                </a:path>
              </a:pathLst>
            </a:custGeom>
            <a:solidFill>
              <a:srgbClr val="258671"/>
            </a:solidFill>
            <a:ln cap="sq">
              <a:noFill/>
              <a:prstDash val="sysDot"/>
              <a:miter/>
            </a:ln>
          </p:spPr>
        </p:sp>
        <p:sp>
          <p:nvSpPr>
            <p:cNvPr name="TextBox 11" id="11"/>
            <p:cNvSpPr txBox="true"/>
            <p:nvPr/>
          </p:nvSpPr>
          <p:spPr>
            <a:xfrm>
              <a:off x="0" y="-28575"/>
              <a:ext cx="945208" cy="561097"/>
            </a:xfrm>
            <a:prstGeom prst="rect">
              <a:avLst/>
            </a:prstGeom>
          </p:spPr>
          <p:txBody>
            <a:bodyPr anchor="ctr" rtlCol="false" tIns="254000" lIns="254000" bIns="254000" rIns="254000"/>
            <a:lstStyle/>
            <a:p>
              <a:pPr algn="ctr">
                <a:lnSpc>
                  <a:spcPts val="2100"/>
                </a:lnSpc>
              </a:pPr>
              <a:r>
                <a:rPr lang="en-US" sz="1500">
                  <a:solidFill>
                    <a:srgbClr val="FFFFFF"/>
                  </a:solidFill>
                  <a:latin typeface="Garet Light"/>
                  <a:ea typeface="Garet Light"/>
                  <a:cs typeface="Garet Light"/>
                  <a:sym typeface="Garet Light"/>
                </a:rPr>
                <a:t>Data Collection</a:t>
              </a:r>
            </a:p>
          </p:txBody>
        </p:sp>
      </p:grpSp>
      <p:grpSp>
        <p:nvGrpSpPr>
          <p:cNvPr name="Group 12" id="12"/>
          <p:cNvGrpSpPr/>
          <p:nvPr/>
        </p:nvGrpSpPr>
        <p:grpSpPr>
          <a:xfrm rot="0">
            <a:off x="8892881" y="5478926"/>
            <a:ext cx="1985329" cy="1090322"/>
            <a:chOff x="0" y="0"/>
            <a:chExt cx="969651" cy="532522"/>
          </a:xfrm>
        </p:grpSpPr>
        <p:sp>
          <p:nvSpPr>
            <p:cNvPr name="Freeform 13" id="13"/>
            <p:cNvSpPr/>
            <p:nvPr/>
          </p:nvSpPr>
          <p:spPr>
            <a:xfrm flipH="false" flipV="false" rot="0">
              <a:off x="0" y="0"/>
              <a:ext cx="969651" cy="532522"/>
            </a:xfrm>
            <a:custGeom>
              <a:avLst/>
              <a:gdLst/>
              <a:ahLst/>
              <a:cxnLst/>
              <a:rect r="r" b="b" t="t" l="l"/>
              <a:pathLst>
                <a:path h="532522" w="969651">
                  <a:moveTo>
                    <a:pt x="0" y="0"/>
                  </a:moveTo>
                  <a:lnTo>
                    <a:pt x="969651" y="0"/>
                  </a:lnTo>
                  <a:lnTo>
                    <a:pt x="969651" y="532522"/>
                  </a:lnTo>
                  <a:lnTo>
                    <a:pt x="0" y="532522"/>
                  </a:lnTo>
                  <a:close/>
                </a:path>
              </a:pathLst>
            </a:custGeom>
            <a:solidFill>
              <a:srgbClr val="258671"/>
            </a:solidFill>
            <a:ln cap="sq">
              <a:noFill/>
              <a:prstDash val="sysDot"/>
              <a:miter/>
            </a:ln>
          </p:spPr>
        </p:sp>
        <p:sp>
          <p:nvSpPr>
            <p:cNvPr name="TextBox 14" id="14"/>
            <p:cNvSpPr txBox="true"/>
            <p:nvPr/>
          </p:nvSpPr>
          <p:spPr>
            <a:xfrm>
              <a:off x="0" y="-28575"/>
              <a:ext cx="969651" cy="561097"/>
            </a:xfrm>
            <a:prstGeom prst="rect">
              <a:avLst/>
            </a:prstGeom>
          </p:spPr>
          <p:txBody>
            <a:bodyPr anchor="ctr" rtlCol="false" tIns="254000" lIns="254000" bIns="254000" rIns="254000"/>
            <a:lstStyle/>
            <a:p>
              <a:pPr algn="ctr">
                <a:lnSpc>
                  <a:spcPts val="2100"/>
                </a:lnSpc>
              </a:pPr>
              <a:r>
                <a:rPr lang="en-US" sz="1500">
                  <a:solidFill>
                    <a:srgbClr val="FFFFFF"/>
                  </a:solidFill>
                  <a:latin typeface="Garet Light"/>
                  <a:ea typeface="Garet Light"/>
                  <a:cs typeface="Garet Light"/>
                  <a:sym typeface="Garet Light"/>
                </a:rPr>
                <a:t>AI Matching</a:t>
              </a:r>
            </a:p>
          </p:txBody>
        </p:sp>
      </p:grpSp>
      <p:grpSp>
        <p:nvGrpSpPr>
          <p:cNvPr name="Group 15" id="15"/>
          <p:cNvGrpSpPr/>
          <p:nvPr/>
        </p:nvGrpSpPr>
        <p:grpSpPr>
          <a:xfrm rot="0">
            <a:off x="8605951" y="3893304"/>
            <a:ext cx="1742542" cy="1090322"/>
            <a:chOff x="0" y="0"/>
            <a:chExt cx="851072" cy="532522"/>
          </a:xfrm>
        </p:grpSpPr>
        <p:sp>
          <p:nvSpPr>
            <p:cNvPr name="Freeform 16" id="16"/>
            <p:cNvSpPr/>
            <p:nvPr/>
          </p:nvSpPr>
          <p:spPr>
            <a:xfrm flipH="false" flipV="false" rot="0">
              <a:off x="0" y="0"/>
              <a:ext cx="851072" cy="532522"/>
            </a:xfrm>
            <a:custGeom>
              <a:avLst/>
              <a:gdLst/>
              <a:ahLst/>
              <a:cxnLst/>
              <a:rect r="r" b="b" t="t" l="l"/>
              <a:pathLst>
                <a:path h="532522" w="851072">
                  <a:moveTo>
                    <a:pt x="0" y="0"/>
                  </a:moveTo>
                  <a:lnTo>
                    <a:pt x="851072" y="0"/>
                  </a:lnTo>
                  <a:lnTo>
                    <a:pt x="851072" y="532522"/>
                  </a:lnTo>
                  <a:lnTo>
                    <a:pt x="0" y="532522"/>
                  </a:lnTo>
                  <a:close/>
                </a:path>
              </a:pathLst>
            </a:custGeom>
            <a:solidFill>
              <a:srgbClr val="258671"/>
            </a:solidFill>
            <a:ln cap="sq">
              <a:noFill/>
              <a:prstDash val="sysDot"/>
              <a:miter/>
            </a:ln>
          </p:spPr>
        </p:sp>
        <p:sp>
          <p:nvSpPr>
            <p:cNvPr name="TextBox 17" id="17"/>
            <p:cNvSpPr txBox="true"/>
            <p:nvPr/>
          </p:nvSpPr>
          <p:spPr>
            <a:xfrm>
              <a:off x="0" y="-28575"/>
              <a:ext cx="851072" cy="561097"/>
            </a:xfrm>
            <a:prstGeom prst="rect">
              <a:avLst/>
            </a:prstGeom>
          </p:spPr>
          <p:txBody>
            <a:bodyPr anchor="ctr" rtlCol="false" tIns="254000" lIns="254000" bIns="254000" rIns="254000"/>
            <a:lstStyle/>
            <a:p>
              <a:pPr algn="ctr">
                <a:lnSpc>
                  <a:spcPts val="2100"/>
                </a:lnSpc>
              </a:pPr>
              <a:r>
                <a:rPr lang="en-US" sz="1500">
                  <a:solidFill>
                    <a:srgbClr val="FFFFFF"/>
                  </a:solidFill>
                  <a:latin typeface="Garet Light"/>
                  <a:ea typeface="Garet Light"/>
                  <a:cs typeface="Garet Light"/>
                  <a:sym typeface="Garet Light"/>
                </a:rPr>
                <a:t>Digital Transaction</a:t>
              </a:r>
            </a:p>
          </p:txBody>
        </p:sp>
      </p:grpSp>
      <p:sp>
        <p:nvSpPr>
          <p:cNvPr name="Freeform 18" id="18"/>
          <p:cNvSpPr/>
          <p:nvPr/>
        </p:nvSpPr>
        <p:spPr>
          <a:xfrm>
            <a:off x="7275708" y="3414867"/>
            <a:ext cx="1902786" cy="478437"/>
          </a:xfrm>
          <a:custGeom>
            <a:avLst/>
            <a:gdLst/>
            <a:ahLst/>
            <a:cxnLst/>
            <a:rect r="r" b="b" t="t" l="l"/>
            <a:pathLst>
              <a:path h="478437" w="1902786">
                <a:moveTo>
                  <a:pt x="0" y="0"/>
                </a:moveTo>
                <a:lnTo>
                  <a:pt x="1674186" y="0"/>
                </a:lnTo>
                <a:cubicBezTo>
                  <a:pt x="1734815" y="0"/>
                  <a:pt x="1792960" y="24084"/>
                  <a:pt x="1835830" y="66955"/>
                </a:cubicBezTo>
                <a:cubicBezTo>
                  <a:pt x="1878701" y="109826"/>
                  <a:pt x="1902786" y="167971"/>
                  <a:pt x="1902786" y="228600"/>
                </a:cubicBezTo>
                <a:lnTo>
                  <a:pt x="1902786" y="478437"/>
                </a:lnTo>
              </a:path>
            </a:pathLst>
          </a:custGeom>
          <a:ln cap="rnd" w="28575">
            <a:solidFill>
              <a:srgbClr val="0B4236"/>
            </a:solidFill>
            <a:prstDash val="solid"/>
            <a:headEnd type="none" len="sm" w="sm"/>
            <a:tailEnd type="oval" len="lg" w="lg"/>
          </a:ln>
        </p:spPr>
      </p:sp>
      <p:sp>
        <p:nvSpPr>
          <p:cNvPr name="AutoShape 19" id="19"/>
          <p:cNvSpPr/>
          <p:nvPr/>
        </p:nvSpPr>
        <p:spPr>
          <a:xfrm>
            <a:off x="5623634" y="5931890"/>
            <a:ext cx="281399" cy="545161"/>
          </a:xfrm>
          <a:prstGeom prst="line">
            <a:avLst/>
          </a:prstGeom>
          <a:ln cap="rnd" w="28575">
            <a:solidFill>
              <a:srgbClr val="0B4236"/>
            </a:solidFill>
            <a:prstDash val="solid"/>
            <a:headEnd type="none" len="sm" w="sm"/>
            <a:tailEnd type="oval" len="lg" w="lg"/>
          </a:ln>
        </p:spPr>
      </p:sp>
      <p:sp>
        <p:nvSpPr>
          <p:cNvPr name="Freeform 20" id="20"/>
          <p:cNvSpPr/>
          <p:nvPr/>
        </p:nvSpPr>
        <p:spPr>
          <a:xfrm>
            <a:off x="5623634" y="2105356"/>
            <a:ext cx="2789575" cy="281271"/>
          </a:xfrm>
          <a:custGeom>
            <a:avLst/>
            <a:gdLst/>
            <a:ahLst/>
            <a:cxnLst/>
            <a:rect r="r" b="b" t="t" l="l"/>
            <a:pathLst>
              <a:path h="281271" w="2789575">
                <a:moveTo>
                  <a:pt x="0" y="281271"/>
                </a:moveTo>
                <a:lnTo>
                  <a:pt x="0" y="140635"/>
                </a:lnTo>
                <a:cubicBezTo>
                  <a:pt x="0" y="103337"/>
                  <a:pt x="14817" y="67565"/>
                  <a:pt x="41192" y="41191"/>
                </a:cubicBezTo>
                <a:cubicBezTo>
                  <a:pt x="67566" y="14817"/>
                  <a:pt x="103337" y="0"/>
                  <a:pt x="140636" y="0"/>
                </a:cubicBezTo>
                <a:lnTo>
                  <a:pt x="2789576" y="0"/>
                </a:lnTo>
              </a:path>
            </a:pathLst>
          </a:custGeom>
          <a:ln cap="rnd" w="28575">
            <a:solidFill>
              <a:srgbClr val="0B4236"/>
            </a:solidFill>
            <a:prstDash val="solid"/>
            <a:headEnd type="none" len="sm" w="sm"/>
            <a:tailEnd type="oval" len="lg" w="lg"/>
          </a:ln>
        </p:spPr>
      </p:sp>
      <p:sp>
        <p:nvSpPr>
          <p:cNvPr name="Freeform 21" id="21"/>
          <p:cNvSpPr/>
          <p:nvPr/>
        </p:nvSpPr>
        <p:spPr>
          <a:xfrm>
            <a:off x="7443617" y="4162072"/>
            <a:ext cx="1449263" cy="1862015"/>
          </a:xfrm>
          <a:custGeom>
            <a:avLst/>
            <a:gdLst/>
            <a:ahLst/>
            <a:cxnLst/>
            <a:rect r="r" b="b" t="t" l="l"/>
            <a:pathLst>
              <a:path h="1862015" w="1449263">
                <a:moveTo>
                  <a:pt x="0" y="0"/>
                </a:moveTo>
                <a:lnTo>
                  <a:pt x="114300" y="0"/>
                </a:lnTo>
                <a:cubicBezTo>
                  <a:pt x="144614" y="0"/>
                  <a:pt x="173687" y="12043"/>
                  <a:pt x="195122" y="33478"/>
                </a:cubicBezTo>
                <a:cubicBezTo>
                  <a:pt x="216558" y="54913"/>
                  <a:pt x="228600" y="83986"/>
                  <a:pt x="228600" y="114300"/>
                </a:cubicBezTo>
                <a:lnTo>
                  <a:pt x="228600" y="1633415"/>
                </a:lnTo>
                <a:cubicBezTo>
                  <a:pt x="228600" y="1694043"/>
                  <a:pt x="252685" y="1752189"/>
                  <a:pt x="295556" y="1795060"/>
                </a:cubicBezTo>
                <a:cubicBezTo>
                  <a:pt x="338426" y="1837930"/>
                  <a:pt x="396571" y="1862015"/>
                  <a:pt x="457200" y="1862015"/>
                </a:cubicBezTo>
                <a:lnTo>
                  <a:pt x="1449263" y="1862015"/>
                </a:lnTo>
              </a:path>
            </a:pathLst>
          </a:custGeom>
          <a:ln cap="rnd" w="28575">
            <a:solidFill>
              <a:srgbClr val="0B4236"/>
            </a:solidFill>
            <a:prstDash val="solid"/>
            <a:headEnd type="none" len="sm" w="sm"/>
            <a:tailEnd type="oval" len="lg" w="lg"/>
          </a:ln>
        </p:spPr>
      </p:sp>
      <p:grpSp>
        <p:nvGrpSpPr>
          <p:cNvPr name="Group 22" id="22"/>
          <p:cNvGrpSpPr/>
          <p:nvPr/>
        </p:nvGrpSpPr>
        <p:grpSpPr>
          <a:xfrm rot="0">
            <a:off x="10942486" y="642176"/>
            <a:ext cx="2272258" cy="1040053"/>
            <a:chOff x="0" y="0"/>
            <a:chExt cx="1109790" cy="507970"/>
          </a:xfrm>
        </p:grpSpPr>
        <p:sp>
          <p:nvSpPr>
            <p:cNvPr name="Freeform 23" id="23"/>
            <p:cNvSpPr/>
            <p:nvPr/>
          </p:nvSpPr>
          <p:spPr>
            <a:xfrm flipH="false" flipV="false" rot="0">
              <a:off x="0" y="0"/>
              <a:ext cx="1109790" cy="507970"/>
            </a:xfrm>
            <a:custGeom>
              <a:avLst/>
              <a:gdLst/>
              <a:ahLst/>
              <a:cxnLst/>
              <a:rect r="r" b="b" t="t" l="l"/>
              <a:pathLst>
                <a:path h="507970" w="1109790">
                  <a:moveTo>
                    <a:pt x="54514" y="0"/>
                  </a:moveTo>
                  <a:lnTo>
                    <a:pt x="1055275" y="0"/>
                  </a:lnTo>
                  <a:cubicBezTo>
                    <a:pt x="1069733" y="0"/>
                    <a:pt x="1083599" y="5743"/>
                    <a:pt x="1093823" y="15967"/>
                  </a:cubicBezTo>
                  <a:cubicBezTo>
                    <a:pt x="1104046" y="26190"/>
                    <a:pt x="1109790" y="40056"/>
                    <a:pt x="1109790" y="54514"/>
                  </a:cubicBezTo>
                  <a:lnTo>
                    <a:pt x="1109790" y="453456"/>
                  </a:lnTo>
                  <a:cubicBezTo>
                    <a:pt x="1109790" y="483563"/>
                    <a:pt x="1085383" y="507970"/>
                    <a:pt x="1055275" y="507970"/>
                  </a:cubicBezTo>
                  <a:lnTo>
                    <a:pt x="54514" y="507970"/>
                  </a:lnTo>
                  <a:cubicBezTo>
                    <a:pt x="24407" y="507970"/>
                    <a:pt x="0" y="483563"/>
                    <a:pt x="0" y="453456"/>
                  </a:cubicBezTo>
                  <a:lnTo>
                    <a:pt x="0" y="54514"/>
                  </a:lnTo>
                  <a:cubicBezTo>
                    <a:pt x="0" y="24407"/>
                    <a:pt x="24407" y="0"/>
                    <a:pt x="54514" y="0"/>
                  </a:cubicBezTo>
                  <a:close/>
                </a:path>
              </a:pathLst>
            </a:custGeom>
            <a:solidFill>
              <a:srgbClr val="FFFFFF"/>
            </a:solidFill>
            <a:ln cap="sq">
              <a:noFill/>
              <a:prstDash val="sysDot"/>
              <a:miter/>
            </a:ln>
          </p:spPr>
        </p:sp>
        <p:sp>
          <p:nvSpPr>
            <p:cNvPr name="TextBox 24" id="24"/>
            <p:cNvSpPr txBox="true"/>
            <p:nvPr/>
          </p:nvSpPr>
          <p:spPr>
            <a:xfrm>
              <a:off x="0" y="-28575"/>
              <a:ext cx="1109790" cy="536545"/>
            </a:xfrm>
            <a:prstGeom prst="rect">
              <a:avLst/>
            </a:prstGeom>
          </p:spPr>
          <p:txBody>
            <a:bodyPr anchor="ctr" rtlCol="false" tIns="254000" lIns="254000" bIns="254000" rIns="254000"/>
            <a:lstStyle/>
            <a:p>
              <a:pPr algn="ctr">
                <a:lnSpc>
                  <a:spcPts val="2100"/>
                </a:lnSpc>
              </a:pPr>
              <a:r>
                <a:rPr lang="en-US" sz="1500">
                  <a:solidFill>
                    <a:srgbClr val="0B4236"/>
                  </a:solidFill>
                  <a:latin typeface="Garet Light"/>
                  <a:ea typeface="Garet Light"/>
                  <a:cs typeface="Garet Light"/>
                  <a:sym typeface="Garet Light"/>
                </a:rPr>
                <a:t>Crop residue type</a:t>
              </a:r>
            </a:p>
            <a:p>
              <a:pPr algn="ctr">
                <a:lnSpc>
                  <a:spcPts val="2100"/>
                </a:lnSpc>
              </a:pPr>
            </a:p>
          </p:txBody>
        </p:sp>
      </p:grpSp>
      <p:sp>
        <p:nvSpPr>
          <p:cNvPr name="Freeform 25" id="25"/>
          <p:cNvSpPr/>
          <p:nvPr/>
        </p:nvSpPr>
        <p:spPr>
          <a:xfrm>
            <a:off x="10348492" y="1162202"/>
            <a:ext cx="593993" cy="943154"/>
          </a:xfrm>
          <a:custGeom>
            <a:avLst/>
            <a:gdLst/>
            <a:ahLst/>
            <a:cxnLst/>
            <a:rect r="r" b="b" t="t" l="l"/>
            <a:pathLst>
              <a:path h="943154" w="593993">
                <a:moveTo>
                  <a:pt x="0" y="943154"/>
                </a:moveTo>
                <a:lnTo>
                  <a:pt x="0" y="700177"/>
                </a:lnTo>
                <a:cubicBezTo>
                  <a:pt x="0" y="639548"/>
                  <a:pt x="24085" y="581403"/>
                  <a:pt x="66956" y="538532"/>
                </a:cubicBezTo>
                <a:cubicBezTo>
                  <a:pt x="109826" y="495662"/>
                  <a:pt x="167972" y="471577"/>
                  <a:pt x="228600" y="471577"/>
                </a:cubicBezTo>
                <a:lnTo>
                  <a:pt x="365394" y="471577"/>
                </a:lnTo>
                <a:cubicBezTo>
                  <a:pt x="426022" y="471577"/>
                  <a:pt x="484168" y="447492"/>
                  <a:pt x="527038" y="404622"/>
                </a:cubicBezTo>
                <a:cubicBezTo>
                  <a:pt x="569909" y="361751"/>
                  <a:pt x="593994" y="303605"/>
                  <a:pt x="593994" y="242977"/>
                </a:cubicBezTo>
                <a:lnTo>
                  <a:pt x="593994" y="0"/>
                </a:lnTo>
              </a:path>
            </a:pathLst>
          </a:custGeom>
          <a:ln cap="rnd" w="28575">
            <a:solidFill>
              <a:srgbClr val="0B4236"/>
            </a:solidFill>
            <a:prstDash val="solid"/>
            <a:headEnd type="none" len="sm" w="sm"/>
            <a:tailEnd type="oval" len="lg" w="lg"/>
          </a:ln>
        </p:spPr>
      </p:sp>
      <p:grpSp>
        <p:nvGrpSpPr>
          <p:cNvPr name="Group 26" id="26"/>
          <p:cNvGrpSpPr/>
          <p:nvPr/>
        </p:nvGrpSpPr>
        <p:grpSpPr>
          <a:xfrm rot="0">
            <a:off x="10942486" y="2865064"/>
            <a:ext cx="2272258" cy="1028240"/>
            <a:chOff x="0" y="0"/>
            <a:chExt cx="1109790" cy="502201"/>
          </a:xfrm>
        </p:grpSpPr>
        <p:sp>
          <p:nvSpPr>
            <p:cNvPr name="Freeform 27" id="27"/>
            <p:cNvSpPr/>
            <p:nvPr/>
          </p:nvSpPr>
          <p:spPr>
            <a:xfrm flipH="false" flipV="false" rot="0">
              <a:off x="0" y="0"/>
              <a:ext cx="1109790" cy="502201"/>
            </a:xfrm>
            <a:custGeom>
              <a:avLst/>
              <a:gdLst/>
              <a:ahLst/>
              <a:cxnLst/>
              <a:rect r="r" b="b" t="t" l="l"/>
              <a:pathLst>
                <a:path h="502201" w="1109790">
                  <a:moveTo>
                    <a:pt x="0" y="0"/>
                  </a:moveTo>
                  <a:lnTo>
                    <a:pt x="1109790" y="0"/>
                  </a:lnTo>
                  <a:lnTo>
                    <a:pt x="1109790" y="502201"/>
                  </a:lnTo>
                  <a:lnTo>
                    <a:pt x="0" y="502201"/>
                  </a:lnTo>
                  <a:close/>
                </a:path>
              </a:pathLst>
            </a:custGeom>
            <a:solidFill>
              <a:srgbClr val="FFFFFF"/>
            </a:solidFill>
            <a:ln cap="sq">
              <a:noFill/>
              <a:prstDash val="sysDot"/>
              <a:miter/>
            </a:ln>
          </p:spPr>
        </p:sp>
        <p:sp>
          <p:nvSpPr>
            <p:cNvPr name="TextBox 28" id="28"/>
            <p:cNvSpPr txBox="true"/>
            <p:nvPr/>
          </p:nvSpPr>
          <p:spPr>
            <a:xfrm>
              <a:off x="0" y="-28575"/>
              <a:ext cx="1109790" cy="530776"/>
            </a:xfrm>
            <a:prstGeom prst="rect">
              <a:avLst/>
            </a:prstGeom>
          </p:spPr>
          <p:txBody>
            <a:bodyPr anchor="ctr" rtlCol="false" tIns="254000" lIns="254000" bIns="254000" rIns="254000"/>
            <a:lstStyle/>
            <a:p>
              <a:pPr algn="ctr">
                <a:lnSpc>
                  <a:spcPts val="2100"/>
                </a:lnSpc>
              </a:pPr>
              <a:r>
                <a:rPr lang="en-US" sz="1500">
                  <a:solidFill>
                    <a:srgbClr val="0B4236"/>
                  </a:solidFill>
                  <a:latin typeface="Garet Light"/>
                  <a:ea typeface="Garet Light"/>
                  <a:cs typeface="Garet Light"/>
                  <a:sym typeface="Garet Light"/>
                </a:rPr>
                <a:t>Quantity &amp; availability</a:t>
              </a:r>
            </a:p>
          </p:txBody>
        </p:sp>
      </p:grpSp>
      <p:sp>
        <p:nvSpPr>
          <p:cNvPr name="Freeform 29" id="29"/>
          <p:cNvSpPr/>
          <p:nvPr/>
        </p:nvSpPr>
        <p:spPr>
          <a:xfrm>
            <a:off x="10276939" y="2650517"/>
            <a:ext cx="665546" cy="728667"/>
          </a:xfrm>
          <a:custGeom>
            <a:avLst/>
            <a:gdLst/>
            <a:ahLst/>
            <a:cxnLst/>
            <a:rect r="r" b="b" t="t" l="l"/>
            <a:pathLst>
              <a:path h="728667" w="665546">
                <a:moveTo>
                  <a:pt x="0" y="0"/>
                </a:moveTo>
                <a:lnTo>
                  <a:pt x="0" y="182167"/>
                </a:lnTo>
                <a:cubicBezTo>
                  <a:pt x="0" y="230480"/>
                  <a:pt x="19193" y="276815"/>
                  <a:pt x="53356" y="310978"/>
                </a:cubicBezTo>
                <a:cubicBezTo>
                  <a:pt x="87519" y="345141"/>
                  <a:pt x="133853" y="364333"/>
                  <a:pt x="182168" y="364333"/>
                </a:cubicBezTo>
                <a:lnTo>
                  <a:pt x="483380" y="364333"/>
                </a:lnTo>
                <a:cubicBezTo>
                  <a:pt x="531694" y="364333"/>
                  <a:pt x="578028" y="383526"/>
                  <a:pt x="612191" y="417689"/>
                </a:cubicBezTo>
                <a:cubicBezTo>
                  <a:pt x="646354" y="451852"/>
                  <a:pt x="665547" y="498187"/>
                  <a:pt x="665547" y="546500"/>
                </a:cubicBezTo>
                <a:lnTo>
                  <a:pt x="665547" y="728667"/>
                </a:lnTo>
              </a:path>
            </a:pathLst>
          </a:custGeom>
          <a:ln cap="rnd" w="28575">
            <a:solidFill>
              <a:srgbClr val="0B4236"/>
            </a:solidFill>
            <a:prstDash val="solid"/>
            <a:headEnd type="none" len="sm" w="sm"/>
            <a:tailEnd type="oval" len="lg" w="lg"/>
          </a:ln>
        </p:spPr>
      </p:sp>
      <p:grpSp>
        <p:nvGrpSpPr>
          <p:cNvPr name="Group 30" id="30"/>
          <p:cNvGrpSpPr/>
          <p:nvPr/>
        </p:nvGrpSpPr>
        <p:grpSpPr>
          <a:xfrm rot="0">
            <a:off x="13818918" y="2249924"/>
            <a:ext cx="2272258" cy="895485"/>
            <a:chOff x="0" y="0"/>
            <a:chExt cx="1109790" cy="437362"/>
          </a:xfrm>
        </p:grpSpPr>
        <p:sp>
          <p:nvSpPr>
            <p:cNvPr name="Freeform 31" id="31"/>
            <p:cNvSpPr/>
            <p:nvPr/>
          </p:nvSpPr>
          <p:spPr>
            <a:xfrm flipH="false" flipV="false" rot="0">
              <a:off x="0" y="0"/>
              <a:ext cx="1109790" cy="437362"/>
            </a:xfrm>
            <a:custGeom>
              <a:avLst/>
              <a:gdLst/>
              <a:ahLst/>
              <a:cxnLst/>
              <a:rect r="r" b="b" t="t" l="l"/>
              <a:pathLst>
                <a:path h="437362" w="1109790">
                  <a:moveTo>
                    <a:pt x="57922" y="0"/>
                  </a:moveTo>
                  <a:lnTo>
                    <a:pt x="1051868" y="0"/>
                  </a:lnTo>
                  <a:cubicBezTo>
                    <a:pt x="1067230" y="0"/>
                    <a:pt x="1081962" y="6102"/>
                    <a:pt x="1092825" y="16965"/>
                  </a:cubicBezTo>
                  <a:cubicBezTo>
                    <a:pt x="1103687" y="27827"/>
                    <a:pt x="1109790" y="42560"/>
                    <a:pt x="1109790" y="57922"/>
                  </a:cubicBezTo>
                  <a:lnTo>
                    <a:pt x="1109790" y="379441"/>
                  </a:lnTo>
                  <a:cubicBezTo>
                    <a:pt x="1109790" y="411430"/>
                    <a:pt x="1083857" y="437362"/>
                    <a:pt x="1051868" y="437362"/>
                  </a:cubicBezTo>
                  <a:lnTo>
                    <a:pt x="57922" y="437362"/>
                  </a:lnTo>
                  <a:cubicBezTo>
                    <a:pt x="25932" y="437362"/>
                    <a:pt x="0" y="411430"/>
                    <a:pt x="0" y="379441"/>
                  </a:cubicBezTo>
                  <a:lnTo>
                    <a:pt x="0" y="57922"/>
                  </a:lnTo>
                  <a:cubicBezTo>
                    <a:pt x="0" y="25932"/>
                    <a:pt x="25932" y="0"/>
                    <a:pt x="57922" y="0"/>
                  </a:cubicBezTo>
                  <a:close/>
                </a:path>
              </a:pathLst>
            </a:custGeom>
            <a:solidFill>
              <a:srgbClr val="FFFFFF"/>
            </a:solidFill>
            <a:ln cap="sq">
              <a:noFill/>
              <a:prstDash val="solid"/>
              <a:miter/>
            </a:ln>
          </p:spPr>
        </p:sp>
        <p:sp>
          <p:nvSpPr>
            <p:cNvPr name="TextBox 32" id="32"/>
            <p:cNvSpPr txBox="true"/>
            <p:nvPr/>
          </p:nvSpPr>
          <p:spPr>
            <a:xfrm>
              <a:off x="0" y="-28575"/>
              <a:ext cx="1109790" cy="465937"/>
            </a:xfrm>
            <a:prstGeom prst="rect">
              <a:avLst/>
            </a:prstGeom>
          </p:spPr>
          <p:txBody>
            <a:bodyPr anchor="ctr" rtlCol="false" tIns="254000" lIns="254000" bIns="254000" rIns="254000"/>
            <a:lstStyle/>
            <a:p>
              <a:pPr algn="ctr">
                <a:lnSpc>
                  <a:spcPts val="2100"/>
                </a:lnSpc>
              </a:pPr>
              <a:r>
                <a:rPr lang="en-US" sz="1500">
                  <a:solidFill>
                    <a:srgbClr val="0B4236"/>
                  </a:solidFill>
                  <a:latin typeface="Garet Light"/>
                  <a:ea typeface="Garet Light"/>
                  <a:cs typeface="Garet Light"/>
                  <a:sym typeface="Garet Light"/>
                </a:rPr>
                <a:t>Farmer location</a:t>
              </a:r>
            </a:p>
          </p:txBody>
        </p:sp>
      </p:grpSp>
      <p:sp>
        <p:nvSpPr>
          <p:cNvPr name="Freeform 33" id="33"/>
          <p:cNvSpPr/>
          <p:nvPr/>
        </p:nvSpPr>
        <p:spPr>
          <a:xfrm>
            <a:off x="13214744" y="2697666"/>
            <a:ext cx="604174" cy="681518"/>
          </a:xfrm>
          <a:custGeom>
            <a:avLst/>
            <a:gdLst/>
            <a:ahLst/>
            <a:cxnLst/>
            <a:rect r="r" b="b" t="t" l="l"/>
            <a:pathLst>
              <a:path h="681518" w="604174">
                <a:moveTo>
                  <a:pt x="0" y="681518"/>
                </a:moveTo>
                <a:lnTo>
                  <a:pt x="0" y="511139"/>
                </a:lnTo>
                <a:cubicBezTo>
                  <a:pt x="0" y="465951"/>
                  <a:pt x="17951" y="422614"/>
                  <a:pt x="49902" y="390662"/>
                </a:cubicBezTo>
                <a:cubicBezTo>
                  <a:pt x="81855" y="358710"/>
                  <a:pt x="125192" y="340759"/>
                  <a:pt x="170379" y="340759"/>
                </a:cubicBezTo>
                <a:lnTo>
                  <a:pt x="433795" y="340759"/>
                </a:lnTo>
                <a:cubicBezTo>
                  <a:pt x="478981" y="340759"/>
                  <a:pt x="522318" y="322809"/>
                  <a:pt x="554271" y="290856"/>
                </a:cubicBezTo>
                <a:cubicBezTo>
                  <a:pt x="586223" y="258904"/>
                  <a:pt x="604174" y="215567"/>
                  <a:pt x="604174" y="170380"/>
                </a:cubicBezTo>
                <a:lnTo>
                  <a:pt x="604174" y="0"/>
                </a:lnTo>
              </a:path>
            </a:pathLst>
          </a:custGeom>
          <a:ln cap="rnd" w="28575">
            <a:solidFill>
              <a:srgbClr val="0B4236"/>
            </a:solidFill>
            <a:prstDash val="solid"/>
            <a:headEnd type="none" len="sm" w="sm"/>
            <a:tailEnd type="oval" len="lg" w="lg"/>
          </a:ln>
        </p:spPr>
      </p:sp>
      <p:grpSp>
        <p:nvGrpSpPr>
          <p:cNvPr name="Group 34" id="34"/>
          <p:cNvGrpSpPr/>
          <p:nvPr/>
        </p:nvGrpSpPr>
        <p:grpSpPr>
          <a:xfrm rot="0">
            <a:off x="11609730" y="6060187"/>
            <a:ext cx="2043241" cy="962025"/>
            <a:chOff x="0" y="0"/>
            <a:chExt cx="997936" cy="469861"/>
          </a:xfrm>
        </p:grpSpPr>
        <p:sp>
          <p:nvSpPr>
            <p:cNvPr name="Freeform 35" id="35"/>
            <p:cNvSpPr/>
            <p:nvPr/>
          </p:nvSpPr>
          <p:spPr>
            <a:xfrm flipH="false" flipV="false" rot="0">
              <a:off x="0" y="0"/>
              <a:ext cx="997936" cy="469861"/>
            </a:xfrm>
            <a:custGeom>
              <a:avLst/>
              <a:gdLst/>
              <a:ahLst/>
              <a:cxnLst/>
              <a:rect r="r" b="b" t="t" l="l"/>
              <a:pathLst>
                <a:path h="469861" w="997936">
                  <a:moveTo>
                    <a:pt x="0" y="0"/>
                  </a:moveTo>
                  <a:lnTo>
                    <a:pt x="997936" y="0"/>
                  </a:lnTo>
                  <a:lnTo>
                    <a:pt x="997936" y="469861"/>
                  </a:lnTo>
                  <a:lnTo>
                    <a:pt x="0" y="469861"/>
                  </a:lnTo>
                  <a:close/>
                </a:path>
              </a:pathLst>
            </a:custGeom>
            <a:solidFill>
              <a:srgbClr val="FFFFFF"/>
            </a:solidFill>
            <a:ln cap="sq">
              <a:noFill/>
              <a:prstDash val="sysDot"/>
              <a:miter/>
            </a:ln>
          </p:spPr>
        </p:sp>
        <p:sp>
          <p:nvSpPr>
            <p:cNvPr name="TextBox 36" id="36"/>
            <p:cNvSpPr txBox="true"/>
            <p:nvPr/>
          </p:nvSpPr>
          <p:spPr>
            <a:xfrm>
              <a:off x="0" y="-28575"/>
              <a:ext cx="997936" cy="498436"/>
            </a:xfrm>
            <a:prstGeom prst="rect">
              <a:avLst/>
            </a:prstGeom>
          </p:spPr>
          <p:txBody>
            <a:bodyPr anchor="ctr" rtlCol="false" tIns="254000" lIns="254000" bIns="254000" rIns="254000"/>
            <a:lstStyle/>
            <a:p>
              <a:pPr algn="ctr">
                <a:lnSpc>
                  <a:spcPts val="2100"/>
                </a:lnSpc>
              </a:pPr>
              <a:r>
                <a:rPr lang="en-US" sz="1500">
                  <a:solidFill>
                    <a:srgbClr val="0B4236"/>
                  </a:solidFill>
                  <a:latin typeface="Garet Light"/>
                  <a:ea typeface="Garet Light"/>
                  <a:cs typeface="Garet Light"/>
                  <a:sym typeface="Garet Light"/>
                </a:rPr>
                <a:t>Supply-demand matching</a:t>
              </a:r>
            </a:p>
          </p:txBody>
        </p:sp>
      </p:grpSp>
      <p:sp>
        <p:nvSpPr>
          <p:cNvPr name="Freeform 37" id="37"/>
          <p:cNvSpPr/>
          <p:nvPr/>
        </p:nvSpPr>
        <p:spPr>
          <a:xfrm>
            <a:off x="10878209" y="6060187"/>
            <a:ext cx="1753142" cy="509060"/>
          </a:xfrm>
          <a:custGeom>
            <a:avLst/>
            <a:gdLst/>
            <a:ahLst/>
            <a:cxnLst/>
            <a:rect r="r" b="b" t="t" l="l"/>
            <a:pathLst>
              <a:path h="509060" w="1753142">
                <a:moveTo>
                  <a:pt x="0" y="509061"/>
                </a:moveTo>
                <a:lnTo>
                  <a:pt x="647971" y="509061"/>
                </a:lnTo>
                <a:cubicBezTo>
                  <a:pt x="708600" y="509061"/>
                  <a:pt x="766745" y="484976"/>
                  <a:pt x="809616" y="442106"/>
                </a:cubicBezTo>
                <a:cubicBezTo>
                  <a:pt x="852487" y="399235"/>
                  <a:pt x="876571" y="341089"/>
                  <a:pt x="876571" y="280461"/>
                </a:cubicBezTo>
                <a:lnTo>
                  <a:pt x="876571" y="228600"/>
                </a:lnTo>
                <a:cubicBezTo>
                  <a:pt x="876571" y="102348"/>
                  <a:pt x="978919" y="0"/>
                  <a:pt x="1105171" y="0"/>
                </a:cubicBezTo>
                <a:lnTo>
                  <a:pt x="1753142" y="0"/>
                </a:lnTo>
              </a:path>
            </a:pathLst>
          </a:custGeom>
          <a:ln cap="rnd" w="28575">
            <a:solidFill>
              <a:srgbClr val="0B4236"/>
            </a:solidFill>
            <a:prstDash val="solid"/>
            <a:headEnd type="none" len="sm" w="sm"/>
            <a:tailEnd type="oval" len="lg" w="lg"/>
          </a:ln>
        </p:spPr>
      </p:sp>
      <p:grpSp>
        <p:nvGrpSpPr>
          <p:cNvPr name="Group 38" id="38"/>
          <p:cNvGrpSpPr/>
          <p:nvPr/>
        </p:nvGrpSpPr>
        <p:grpSpPr>
          <a:xfrm rot="0">
            <a:off x="8749416" y="7336010"/>
            <a:ext cx="2272258" cy="962025"/>
            <a:chOff x="0" y="0"/>
            <a:chExt cx="1109790" cy="469861"/>
          </a:xfrm>
        </p:grpSpPr>
        <p:sp>
          <p:nvSpPr>
            <p:cNvPr name="Freeform 39" id="39"/>
            <p:cNvSpPr/>
            <p:nvPr/>
          </p:nvSpPr>
          <p:spPr>
            <a:xfrm flipH="false" flipV="false" rot="0">
              <a:off x="0" y="0"/>
              <a:ext cx="1109790" cy="469861"/>
            </a:xfrm>
            <a:custGeom>
              <a:avLst/>
              <a:gdLst/>
              <a:ahLst/>
              <a:cxnLst/>
              <a:rect r="r" b="b" t="t" l="l"/>
              <a:pathLst>
                <a:path h="469861" w="1109790">
                  <a:moveTo>
                    <a:pt x="0" y="0"/>
                  </a:moveTo>
                  <a:lnTo>
                    <a:pt x="1109790" y="0"/>
                  </a:lnTo>
                  <a:lnTo>
                    <a:pt x="1109790" y="469861"/>
                  </a:lnTo>
                  <a:lnTo>
                    <a:pt x="0" y="469861"/>
                  </a:lnTo>
                  <a:close/>
                </a:path>
              </a:pathLst>
            </a:custGeom>
            <a:solidFill>
              <a:srgbClr val="FFFFFF"/>
            </a:solidFill>
            <a:ln cap="sq">
              <a:noFill/>
              <a:prstDash val="sysDot"/>
              <a:miter/>
            </a:ln>
          </p:spPr>
        </p:sp>
        <p:sp>
          <p:nvSpPr>
            <p:cNvPr name="TextBox 40" id="40"/>
            <p:cNvSpPr txBox="true"/>
            <p:nvPr/>
          </p:nvSpPr>
          <p:spPr>
            <a:xfrm>
              <a:off x="0" y="-28575"/>
              <a:ext cx="1109790" cy="498436"/>
            </a:xfrm>
            <a:prstGeom prst="rect">
              <a:avLst/>
            </a:prstGeom>
          </p:spPr>
          <p:txBody>
            <a:bodyPr anchor="ctr" rtlCol="false" tIns="254000" lIns="254000" bIns="254000" rIns="254000"/>
            <a:lstStyle/>
            <a:p>
              <a:pPr algn="ctr">
                <a:lnSpc>
                  <a:spcPts val="2100"/>
                </a:lnSpc>
              </a:pPr>
              <a:r>
                <a:rPr lang="en-US" sz="1500">
                  <a:solidFill>
                    <a:srgbClr val="0B4236"/>
                  </a:solidFill>
                  <a:latin typeface="Garet Light"/>
                  <a:ea typeface="Garet Light"/>
                  <a:cs typeface="Garet Light"/>
                  <a:sym typeface="Garet Light"/>
                </a:rPr>
                <a:t>Distance optimization</a:t>
              </a:r>
            </a:p>
          </p:txBody>
        </p:sp>
      </p:grpSp>
      <p:sp>
        <p:nvSpPr>
          <p:cNvPr name="Freeform 41" id="41"/>
          <p:cNvSpPr/>
          <p:nvPr/>
        </p:nvSpPr>
        <p:spPr>
          <a:xfrm>
            <a:off x="9885545" y="6952629"/>
            <a:ext cx="0" cy="383381"/>
          </a:xfrm>
          <a:custGeom>
            <a:avLst/>
            <a:gdLst/>
            <a:ahLst/>
            <a:cxnLst/>
            <a:rect r="r" b="b" t="t" l="l"/>
            <a:pathLst>
              <a:path h="383381" w="0">
                <a:moveTo>
                  <a:pt x="0" y="0"/>
                </a:moveTo>
                <a:lnTo>
                  <a:pt x="0" y="383381"/>
                </a:lnTo>
              </a:path>
            </a:pathLst>
          </a:custGeom>
          <a:ln cap="rnd" w="28575">
            <a:solidFill>
              <a:srgbClr val="0B4236"/>
            </a:solidFill>
            <a:prstDash val="solid"/>
            <a:headEnd type="none" len="sm" w="sm"/>
            <a:tailEnd type="oval" len="lg" w="lg"/>
          </a:ln>
        </p:spPr>
      </p:sp>
      <p:grpSp>
        <p:nvGrpSpPr>
          <p:cNvPr name="Group 42" id="42"/>
          <p:cNvGrpSpPr/>
          <p:nvPr/>
        </p:nvGrpSpPr>
        <p:grpSpPr>
          <a:xfrm rot="0">
            <a:off x="14529912" y="6012583"/>
            <a:ext cx="2272258" cy="895485"/>
            <a:chOff x="0" y="0"/>
            <a:chExt cx="1109790" cy="437362"/>
          </a:xfrm>
        </p:grpSpPr>
        <p:sp>
          <p:nvSpPr>
            <p:cNvPr name="Freeform 43" id="43"/>
            <p:cNvSpPr/>
            <p:nvPr/>
          </p:nvSpPr>
          <p:spPr>
            <a:xfrm flipH="false" flipV="false" rot="0">
              <a:off x="0" y="0"/>
              <a:ext cx="1109790" cy="437362"/>
            </a:xfrm>
            <a:custGeom>
              <a:avLst/>
              <a:gdLst/>
              <a:ahLst/>
              <a:cxnLst/>
              <a:rect r="r" b="b" t="t" l="l"/>
              <a:pathLst>
                <a:path h="437362" w="1109790">
                  <a:moveTo>
                    <a:pt x="57922" y="0"/>
                  </a:moveTo>
                  <a:lnTo>
                    <a:pt x="1051868" y="0"/>
                  </a:lnTo>
                  <a:cubicBezTo>
                    <a:pt x="1067230" y="0"/>
                    <a:pt x="1081962" y="6102"/>
                    <a:pt x="1092825" y="16965"/>
                  </a:cubicBezTo>
                  <a:cubicBezTo>
                    <a:pt x="1103687" y="27827"/>
                    <a:pt x="1109790" y="42560"/>
                    <a:pt x="1109790" y="57922"/>
                  </a:cubicBezTo>
                  <a:lnTo>
                    <a:pt x="1109790" y="379441"/>
                  </a:lnTo>
                  <a:cubicBezTo>
                    <a:pt x="1109790" y="411430"/>
                    <a:pt x="1083857" y="437362"/>
                    <a:pt x="1051868" y="437362"/>
                  </a:cubicBezTo>
                  <a:lnTo>
                    <a:pt x="57922" y="437362"/>
                  </a:lnTo>
                  <a:cubicBezTo>
                    <a:pt x="25932" y="437362"/>
                    <a:pt x="0" y="411430"/>
                    <a:pt x="0" y="379441"/>
                  </a:cubicBezTo>
                  <a:lnTo>
                    <a:pt x="0" y="57922"/>
                  </a:lnTo>
                  <a:cubicBezTo>
                    <a:pt x="0" y="25932"/>
                    <a:pt x="25932" y="0"/>
                    <a:pt x="57922" y="0"/>
                  </a:cubicBezTo>
                  <a:close/>
                </a:path>
              </a:pathLst>
            </a:custGeom>
            <a:solidFill>
              <a:srgbClr val="FFFFFF"/>
            </a:solidFill>
            <a:ln cap="sq">
              <a:noFill/>
              <a:prstDash val="solid"/>
              <a:miter/>
            </a:ln>
          </p:spPr>
        </p:sp>
        <p:sp>
          <p:nvSpPr>
            <p:cNvPr name="TextBox 44" id="44"/>
            <p:cNvSpPr txBox="true"/>
            <p:nvPr/>
          </p:nvSpPr>
          <p:spPr>
            <a:xfrm>
              <a:off x="0" y="-28575"/>
              <a:ext cx="1109790" cy="465937"/>
            </a:xfrm>
            <a:prstGeom prst="rect">
              <a:avLst/>
            </a:prstGeom>
          </p:spPr>
          <p:txBody>
            <a:bodyPr anchor="ctr" rtlCol="false" tIns="254000" lIns="254000" bIns="254000" rIns="254000"/>
            <a:lstStyle/>
            <a:p>
              <a:pPr algn="ctr">
                <a:lnSpc>
                  <a:spcPts val="2100"/>
                </a:lnSpc>
              </a:pPr>
              <a:r>
                <a:rPr lang="en-US" sz="1500">
                  <a:solidFill>
                    <a:srgbClr val="0B4236"/>
                  </a:solidFill>
                  <a:latin typeface="Garet Light"/>
                  <a:ea typeface="Garet Light"/>
                  <a:cs typeface="Garet Light"/>
                  <a:sym typeface="Garet Light"/>
                </a:rPr>
                <a:t>Price estimation</a:t>
              </a:r>
            </a:p>
          </p:txBody>
        </p:sp>
      </p:grpSp>
      <p:sp>
        <p:nvSpPr>
          <p:cNvPr name="Freeform 45" id="45"/>
          <p:cNvSpPr/>
          <p:nvPr/>
        </p:nvSpPr>
        <p:spPr>
          <a:xfrm>
            <a:off x="12389071" y="6908068"/>
            <a:ext cx="3276971" cy="962690"/>
          </a:xfrm>
          <a:custGeom>
            <a:avLst/>
            <a:gdLst/>
            <a:ahLst/>
            <a:cxnLst/>
            <a:rect r="r" b="b" t="t" l="l"/>
            <a:pathLst>
              <a:path h="962690" w="3276971">
                <a:moveTo>
                  <a:pt x="0" y="114144"/>
                </a:moveTo>
                <a:lnTo>
                  <a:pt x="0" y="734090"/>
                </a:lnTo>
                <a:cubicBezTo>
                  <a:pt x="0" y="794719"/>
                  <a:pt x="24084" y="852864"/>
                  <a:pt x="66956" y="895735"/>
                </a:cubicBezTo>
                <a:cubicBezTo>
                  <a:pt x="109826" y="938606"/>
                  <a:pt x="167971" y="962690"/>
                  <a:pt x="228600" y="962690"/>
                </a:cubicBezTo>
                <a:lnTo>
                  <a:pt x="3048371" y="962690"/>
                </a:lnTo>
                <a:cubicBezTo>
                  <a:pt x="3174624" y="962690"/>
                  <a:pt x="3276971" y="860342"/>
                  <a:pt x="3276971" y="734090"/>
                </a:cubicBezTo>
                <a:lnTo>
                  <a:pt x="3276971" y="0"/>
                </a:lnTo>
              </a:path>
            </a:pathLst>
          </a:custGeom>
          <a:ln cap="rnd" w="28575">
            <a:solidFill>
              <a:srgbClr val="0B4236"/>
            </a:solidFill>
            <a:prstDash val="solid"/>
            <a:headEnd type="none" len="sm" w="sm"/>
            <a:tailEnd type="triangle" len="med" w="lg"/>
          </a:ln>
        </p:spPr>
      </p:sp>
      <p:sp>
        <p:nvSpPr>
          <p:cNvPr name="Freeform 46" id="46"/>
          <p:cNvSpPr/>
          <p:nvPr/>
        </p:nvSpPr>
        <p:spPr>
          <a:xfrm flipH="false" flipV="false" rot="-3694756">
            <a:off x="16099574" y="6998184"/>
            <a:ext cx="4097165" cy="6341629"/>
          </a:xfrm>
          <a:custGeom>
            <a:avLst/>
            <a:gdLst/>
            <a:ahLst/>
            <a:cxnLst/>
            <a:rect r="r" b="b" t="t" l="l"/>
            <a:pathLst>
              <a:path h="6341629" w="4097165">
                <a:moveTo>
                  <a:pt x="0" y="0"/>
                </a:moveTo>
                <a:lnTo>
                  <a:pt x="4097165" y="0"/>
                </a:lnTo>
                <a:lnTo>
                  <a:pt x="4097165" y="6341629"/>
                </a:lnTo>
                <a:lnTo>
                  <a:pt x="0" y="6341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7" id="47"/>
          <p:cNvGrpSpPr/>
          <p:nvPr/>
        </p:nvGrpSpPr>
        <p:grpSpPr>
          <a:xfrm rot="0">
            <a:off x="395391" y="8032769"/>
            <a:ext cx="7075742" cy="1527759"/>
            <a:chOff x="0" y="0"/>
            <a:chExt cx="5338041" cy="1152564"/>
          </a:xfrm>
        </p:grpSpPr>
        <p:sp>
          <p:nvSpPr>
            <p:cNvPr name="Freeform 48" id="48"/>
            <p:cNvSpPr/>
            <p:nvPr/>
          </p:nvSpPr>
          <p:spPr>
            <a:xfrm flipH="false" flipV="false" rot="0">
              <a:off x="0" y="0"/>
              <a:ext cx="5338042" cy="1152564"/>
            </a:xfrm>
            <a:custGeom>
              <a:avLst/>
              <a:gdLst/>
              <a:ahLst/>
              <a:cxnLst/>
              <a:rect r="r" b="b" t="t" l="l"/>
              <a:pathLst>
                <a:path h="1152564" w="5338042">
                  <a:moveTo>
                    <a:pt x="32824" y="0"/>
                  </a:moveTo>
                  <a:lnTo>
                    <a:pt x="5305217" y="0"/>
                  </a:lnTo>
                  <a:cubicBezTo>
                    <a:pt x="5323346" y="0"/>
                    <a:pt x="5338042" y="14696"/>
                    <a:pt x="5338042" y="32824"/>
                  </a:cubicBezTo>
                  <a:lnTo>
                    <a:pt x="5338042" y="1119739"/>
                  </a:lnTo>
                  <a:cubicBezTo>
                    <a:pt x="5338042" y="1128445"/>
                    <a:pt x="5334583" y="1136794"/>
                    <a:pt x="5328427" y="1142950"/>
                  </a:cubicBezTo>
                  <a:cubicBezTo>
                    <a:pt x="5322272" y="1149105"/>
                    <a:pt x="5313923" y="1152564"/>
                    <a:pt x="5305217" y="1152564"/>
                  </a:cubicBezTo>
                  <a:lnTo>
                    <a:pt x="32824" y="1152564"/>
                  </a:lnTo>
                  <a:cubicBezTo>
                    <a:pt x="24119" y="1152564"/>
                    <a:pt x="15770" y="1149105"/>
                    <a:pt x="9614" y="1142950"/>
                  </a:cubicBezTo>
                  <a:cubicBezTo>
                    <a:pt x="3458" y="1136794"/>
                    <a:pt x="0" y="1128445"/>
                    <a:pt x="0" y="1119739"/>
                  </a:cubicBezTo>
                  <a:lnTo>
                    <a:pt x="0" y="32824"/>
                  </a:lnTo>
                  <a:cubicBezTo>
                    <a:pt x="0" y="24119"/>
                    <a:pt x="3458" y="15770"/>
                    <a:pt x="9614" y="9614"/>
                  </a:cubicBezTo>
                  <a:cubicBezTo>
                    <a:pt x="15770" y="3458"/>
                    <a:pt x="24119" y="0"/>
                    <a:pt x="32824" y="0"/>
                  </a:cubicBezTo>
                  <a:close/>
                </a:path>
              </a:pathLst>
            </a:custGeom>
            <a:solidFill>
              <a:srgbClr val="FFFFFF"/>
            </a:solidFill>
            <a:ln cap="rnd">
              <a:noFill/>
              <a:prstDash val="sysDot"/>
              <a:round/>
            </a:ln>
          </p:spPr>
        </p:sp>
        <p:sp>
          <p:nvSpPr>
            <p:cNvPr name="TextBox 49" id="49"/>
            <p:cNvSpPr txBox="true"/>
            <p:nvPr/>
          </p:nvSpPr>
          <p:spPr>
            <a:xfrm>
              <a:off x="0" y="-47625"/>
              <a:ext cx="5338041" cy="1200189"/>
            </a:xfrm>
            <a:prstGeom prst="rect">
              <a:avLst/>
            </a:prstGeom>
          </p:spPr>
          <p:txBody>
            <a:bodyPr anchor="ctr" rtlCol="false" tIns="254000" lIns="254000" bIns="254000" rIns="254000"/>
            <a:lstStyle/>
            <a:p>
              <a:pPr algn="l">
                <a:lnSpc>
                  <a:spcPts val="2240"/>
                </a:lnSpc>
              </a:pPr>
              <a:r>
                <a:rPr lang="en-US" sz="1600" b="true">
                  <a:solidFill>
                    <a:srgbClr val="0B4236"/>
                  </a:solidFill>
                  <a:latin typeface="Neue Machina Ultra-Bold"/>
                  <a:ea typeface="Neue Machina Ultra-Bold"/>
                  <a:cs typeface="Neue Machina Ultra-Bold"/>
                  <a:sym typeface="Neue Machina Ultra-Bold"/>
                </a:rPr>
                <a:t>Start local, prove the model, then scale.</a:t>
              </a:r>
            </a:p>
            <a:p>
              <a:pPr algn="l">
                <a:lnSpc>
                  <a:spcPts val="2240"/>
                </a:lnSpc>
              </a:pPr>
              <a:r>
                <a:rPr lang="en-US" sz="1600">
                  <a:solidFill>
                    <a:srgbClr val="0B4236"/>
                  </a:solidFill>
                  <a:latin typeface="Neue Machina"/>
                  <a:ea typeface="Neue Machina"/>
                  <a:cs typeface="Neue Machina"/>
                  <a:sym typeface="Neue Machina"/>
                </a:rPr>
                <a:t> Pilot AgriLoop with a small group of farmers, buy</a:t>
              </a:r>
              <a:r>
                <a:rPr lang="en-US" sz="1600">
                  <a:solidFill>
                    <a:srgbClr val="0B4236"/>
                  </a:solidFill>
                  <a:latin typeface="Neue Machina"/>
                  <a:ea typeface="Neue Machina"/>
                  <a:cs typeface="Neue Machina"/>
                  <a:sym typeface="Neue Machina"/>
                </a:rPr>
                <a:t>ers, and logistics providers to validate AI matching, pickup efficiency, and residue recovery before expanding regionally.</a:t>
              </a:r>
            </a:p>
          </p:txBody>
        </p:sp>
      </p:grpSp>
      <p:sp>
        <p:nvSpPr>
          <p:cNvPr name="TextBox 50" id="50"/>
          <p:cNvSpPr txBox="true"/>
          <p:nvPr/>
        </p:nvSpPr>
        <p:spPr>
          <a:xfrm rot="0">
            <a:off x="13348072" y="667385"/>
            <a:ext cx="4248507" cy="361315"/>
          </a:xfrm>
          <a:prstGeom prst="rect">
            <a:avLst/>
          </a:prstGeom>
        </p:spPr>
        <p:txBody>
          <a:bodyPr anchor="t" rtlCol="false" tIns="0" lIns="0" bIns="0" rIns="0">
            <a:spAutoFit/>
          </a:bodyPr>
          <a:lstStyle/>
          <a:p>
            <a:pPr algn="r">
              <a:lnSpc>
                <a:spcPts val="2990"/>
              </a:lnSpc>
            </a:pPr>
            <a:r>
              <a:rPr lang="en-US" sz="2300" u="none">
                <a:solidFill>
                  <a:srgbClr val="F4F4F4"/>
                </a:solidFill>
                <a:latin typeface="Garet Light"/>
                <a:ea typeface="Garet Light"/>
                <a:cs typeface="Garet Light"/>
                <a:sym typeface="Garet Light"/>
              </a:rPr>
              <a:t>Back to Agenda</a:t>
            </a:r>
          </a:p>
        </p:txBody>
      </p:sp>
      <p:grpSp>
        <p:nvGrpSpPr>
          <p:cNvPr name="Group 51" id="51"/>
          <p:cNvGrpSpPr/>
          <p:nvPr/>
        </p:nvGrpSpPr>
        <p:grpSpPr>
          <a:xfrm rot="0">
            <a:off x="1015299" y="663162"/>
            <a:ext cx="4613671" cy="455332"/>
            <a:chOff x="0" y="0"/>
            <a:chExt cx="1215123" cy="119923"/>
          </a:xfrm>
        </p:grpSpPr>
        <p:sp>
          <p:nvSpPr>
            <p:cNvPr name="Freeform 52" id="52"/>
            <p:cNvSpPr/>
            <p:nvPr/>
          </p:nvSpPr>
          <p:spPr>
            <a:xfrm flipH="false" flipV="false" rot="0">
              <a:off x="0" y="0"/>
              <a:ext cx="1215123" cy="119923"/>
            </a:xfrm>
            <a:custGeom>
              <a:avLst/>
              <a:gdLst/>
              <a:ahLst/>
              <a:cxnLst/>
              <a:rect r="r" b="b" t="t" l="l"/>
              <a:pathLst>
                <a:path h="119923" w="1215123">
                  <a:moveTo>
                    <a:pt x="0" y="0"/>
                  </a:moveTo>
                  <a:lnTo>
                    <a:pt x="1215123" y="0"/>
                  </a:lnTo>
                  <a:lnTo>
                    <a:pt x="1215123" y="119923"/>
                  </a:lnTo>
                  <a:lnTo>
                    <a:pt x="0" y="119923"/>
                  </a:lnTo>
                  <a:close/>
                </a:path>
              </a:pathLst>
            </a:custGeom>
            <a:solidFill>
              <a:srgbClr val="6C977C">
                <a:alpha val="58824"/>
              </a:srgbClr>
            </a:solidFill>
          </p:spPr>
        </p:sp>
        <p:sp>
          <p:nvSpPr>
            <p:cNvPr name="TextBox 53" id="53"/>
            <p:cNvSpPr txBox="true"/>
            <p:nvPr/>
          </p:nvSpPr>
          <p:spPr>
            <a:xfrm>
              <a:off x="0" y="-38100"/>
              <a:ext cx="1215123" cy="158023"/>
            </a:xfrm>
            <a:prstGeom prst="rect">
              <a:avLst/>
            </a:prstGeom>
          </p:spPr>
          <p:txBody>
            <a:bodyPr anchor="ctr" rtlCol="false" tIns="50800" lIns="50800" bIns="50800" rIns="50800"/>
            <a:lstStyle/>
            <a:p>
              <a:pPr algn="ctr">
                <a:lnSpc>
                  <a:spcPts val="2239"/>
                </a:lnSpc>
              </a:pPr>
            </a:p>
          </p:txBody>
        </p:sp>
      </p:grpSp>
      <p:sp>
        <p:nvSpPr>
          <p:cNvPr name="TextBox 54" id="54"/>
          <p:cNvSpPr txBox="true"/>
          <p:nvPr/>
        </p:nvSpPr>
        <p:spPr>
          <a:xfrm rot="0">
            <a:off x="1015299" y="412385"/>
            <a:ext cx="4556521" cy="749818"/>
          </a:xfrm>
          <a:prstGeom prst="rect">
            <a:avLst/>
          </a:prstGeom>
        </p:spPr>
        <p:txBody>
          <a:bodyPr anchor="t" rtlCol="false" tIns="0" lIns="0" bIns="0" rIns="0">
            <a:spAutoFit/>
          </a:bodyPr>
          <a:lstStyle/>
          <a:p>
            <a:pPr algn="r">
              <a:lnSpc>
                <a:spcPts val="5586"/>
              </a:lnSpc>
            </a:pPr>
            <a:r>
              <a:rPr lang="en-US" sz="5700" spc="-359">
                <a:solidFill>
                  <a:srgbClr val="344E41"/>
                </a:solidFill>
                <a:latin typeface="Neue Machina"/>
                <a:ea typeface="Neue Machina"/>
                <a:cs typeface="Neue Machina"/>
                <a:sym typeface="Neue Machina"/>
              </a:rPr>
              <a:t>Methodology</a:t>
            </a:r>
          </a:p>
        </p:txBody>
      </p:sp>
      <p:sp>
        <p:nvSpPr>
          <p:cNvPr name="Freeform 55" id="55"/>
          <p:cNvSpPr/>
          <p:nvPr/>
        </p:nvSpPr>
        <p:spPr>
          <a:xfrm flipH="false" flipV="false" rot="0">
            <a:off x="-335466" y="9496753"/>
            <a:ext cx="7315200" cy="2335721"/>
          </a:xfrm>
          <a:custGeom>
            <a:avLst/>
            <a:gdLst/>
            <a:ahLst/>
            <a:cxnLst/>
            <a:rect r="r" b="b" t="t" l="l"/>
            <a:pathLst>
              <a:path h="2335721" w="7315200">
                <a:moveTo>
                  <a:pt x="0" y="0"/>
                </a:moveTo>
                <a:lnTo>
                  <a:pt x="7315200" y="0"/>
                </a:lnTo>
                <a:lnTo>
                  <a:pt x="7315200" y="2335721"/>
                </a:lnTo>
                <a:lnTo>
                  <a:pt x="0" y="23357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3E4C5"/>
        </a:solidFill>
      </p:bgPr>
    </p:bg>
    <p:spTree>
      <p:nvGrpSpPr>
        <p:cNvPr id="1" name=""/>
        <p:cNvGrpSpPr/>
        <p:nvPr/>
      </p:nvGrpSpPr>
      <p:grpSpPr>
        <a:xfrm>
          <a:off x="0" y="0"/>
          <a:ext cx="0" cy="0"/>
          <a:chOff x="0" y="0"/>
          <a:chExt cx="0" cy="0"/>
        </a:xfrm>
      </p:grpSpPr>
      <p:sp>
        <p:nvSpPr>
          <p:cNvPr name="Freeform 2" id="2"/>
          <p:cNvSpPr/>
          <p:nvPr/>
        </p:nvSpPr>
        <p:spPr>
          <a:xfrm flipH="false" flipV="false" rot="0">
            <a:off x="-2046306" y="9314082"/>
            <a:ext cx="21327024" cy="11996451"/>
          </a:xfrm>
          <a:custGeom>
            <a:avLst/>
            <a:gdLst/>
            <a:ahLst/>
            <a:cxnLst/>
            <a:rect r="r" b="b" t="t" l="l"/>
            <a:pathLst>
              <a:path h="11996451" w="21327024">
                <a:moveTo>
                  <a:pt x="0" y="0"/>
                </a:moveTo>
                <a:lnTo>
                  <a:pt x="21327025" y="0"/>
                </a:lnTo>
                <a:lnTo>
                  <a:pt x="21327025" y="11996451"/>
                </a:lnTo>
                <a:lnTo>
                  <a:pt x="0" y="119964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20916" y="1028700"/>
            <a:ext cx="8916220" cy="419804"/>
            <a:chOff x="0" y="0"/>
            <a:chExt cx="2348305" cy="110566"/>
          </a:xfrm>
        </p:grpSpPr>
        <p:sp>
          <p:nvSpPr>
            <p:cNvPr name="Freeform 4" id="4"/>
            <p:cNvSpPr/>
            <p:nvPr/>
          </p:nvSpPr>
          <p:spPr>
            <a:xfrm flipH="false" flipV="false" rot="0">
              <a:off x="0" y="0"/>
              <a:ext cx="2348305" cy="110566"/>
            </a:xfrm>
            <a:custGeom>
              <a:avLst/>
              <a:gdLst/>
              <a:ahLst/>
              <a:cxnLst/>
              <a:rect r="r" b="b" t="t" l="l"/>
              <a:pathLst>
                <a:path h="110566" w="2348305">
                  <a:moveTo>
                    <a:pt x="0" y="0"/>
                  </a:moveTo>
                  <a:lnTo>
                    <a:pt x="2348305" y="0"/>
                  </a:lnTo>
                  <a:lnTo>
                    <a:pt x="2348305" y="110566"/>
                  </a:lnTo>
                  <a:lnTo>
                    <a:pt x="0" y="110566"/>
                  </a:lnTo>
                  <a:close/>
                </a:path>
              </a:pathLst>
            </a:custGeom>
            <a:solidFill>
              <a:srgbClr val="6C977C">
                <a:alpha val="58824"/>
              </a:srgbClr>
            </a:solidFill>
          </p:spPr>
        </p:sp>
        <p:sp>
          <p:nvSpPr>
            <p:cNvPr name="TextBox 5" id="5"/>
            <p:cNvSpPr txBox="true"/>
            <p:nvPr/>
          </p:nvSpPr>
          <p:spPr>
            <a:xfrm>
              <a:off x="0" y="-38100"/>
              <a:ext cx="2348305" cy="148666"/>
            </a:xfrm>
            <a:prstGeom prst="rect">
              <a:avLst/>
            </a:prstGeom>
          </p:spPr>
          <p:txBody>
            <a:bodyPr anchor="ctr" rtlCol="false" tIns="50800" lIns="50800" bIns="50800" rIns="50800"/>
            <a:lstStyle/>
            <a:p>
              <a:pPr algn="ctr">
                <a:lnSpc>
                  <a:spcPts val="2239"/>
                </a:lnSpc>
              </a:pPr>
            </a:p>
          </p:txBody>
        </p:sp>
      </p:grpSp>
      <p:sp>
        <p:nvSpPr>
          <p:cNvPr name="TextBox 6" id="6"/>
          <p:cNvSpPr txBox="true"/>
          <p:nvPr/>
        </p:nvSpPr>
        <p:spPr>
          <a:xfrm rot="0">
            <a:off x="420916" y="710941"/>
            <a:ext cx="8916220" cy="749818"/>
          </a:xfrm>
          <a:prstGeom prst="rect">
            <a:avLst/>
          </a:prstGeom>
        </p:spPr>
        <p:txBody>
          <a:bodyPr anchor="t" rtlCol="false" tIns="0" lIns="0" bIns="0" rIns="0">
            <a:spAutoFit/>
          </a:bodyPr>
          <a:lstStyle/>
          <a:p>
            <a:pPr algn="r">
              <a:lnSpc>
                <a:spcPts val="5586"/>
              </a:lnSpc>
            </a:pPr>
            <a:r>
              <a:rPr lang="en-US" sz="5700" spc="-359">
                <a:solidFill>
                  <a:srgbClr val="344E41"/>
                </a:solidFill>
                <a:latin typeface="Neue Machina"/>
                <a:ea typeface="Neue Machina"/>
                <a:cs typeface="Neue Machina"/>
                <a:sym typeface="Neue Machina"/>
              </a:rPr>
              <a:t>Challenges and Objectives</a:t>
            </a:r>
          </a:p>
        </p:txBody>
      </p:sp>
      <p:sp>
        <p:nvSpPr>
          <p:cNvPr name="Freeform 7" id="7"/>
          <p:cNvSpPr/>
          <p:nvPr/>
        </p:nvSpPr>
        <p:spPr>
          <a:xfrm flipH="false" flipV="false" rot="0">
            <a:off x="12500055" y="-6103065"/>
            <a:ext cx="11575889" cy="11575889"/>
          </a:xfrm>
          <a:custGeom>
            <a:avLst/>
            <a:gdLst/>
            <a:ahLst/>
            <a:cxnLst/>
            <a:rect r="r" b="b" t="t" l="l"/>
            <a:pathLst>
              <a:path h="11575889" w="11575889">
                <a:moveTo>
                  <a:pt x="0" y="0"/>
                </a:moveTo>
                <a:lnTo>
                  <a:pt x="11575890" y="0"/>
                </a:lnTo>
                <a:lnTo>
                  <a:pt x="11575890" y="11575890"/>
                </a:lnTo>
                <a:lnTo>
                  <a:pt x="0" y="11575890"/>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147625" y="3986235"/>
            <a:ext cx="7767800" cy="4901456"/>
            <a:chOff x="0" y="0"/>
            <a:chExt cx="1288121" cy="812800"/>
          </a:xfrm>
        </p:grpSpPr>
        <p:sp>
          <p:nvSpPr>
            <p:cNvPr name="Freeform 9" id="9"/>
            <p:cNvSpPr/>
            <p:nvPr/>
          </p:nvSpPr>
          <p:spPr>
            <a:xfrm flipH="false" flipV="false" rot="0">
              <a:off x="0" y="0"/>
              <a:ext cx="1288121" cy="812800"/>
            </a:xfrm>
            <a:custGeom>
              <a:avLst/>
              <a:gdLst/>
              <a:ahLst/>
              <a:cxnLst/>
              <a:rect r="r" b="b" t="t" l="l"/>
              <a:pathLst>
                <a:path h="812800" w="1288121">
                  <a:moveTo>
                    <a:pt x="22923" y="0"/>
                  </a:moveTo>
                  <a:lnTo>
                    <a:pt x="1265198" y="0"/>
                  </a:lnTo>
                  <a:cubicBezTo>
                    <a:pt x="1277858" y="0"/>
                    <a:pt x="1288121" y="10263"/>
                    <a:pt x="1288121" y="22923"/>
                  </a:cubicBezTo>
                  <a:lnTo>
                    <a:pt x="1288121" y="789877"/>
                  </a:lnTo>
                  <a:cubicBezTo>
                    <a:pt x="1288121" y="802537"/>
                    <a:pt x="1277858" y="812800"/>
                    <a:pt x="1265198" y="812800"/>
                  </a:cubicBezTo>
                  <a:lnTo>
                    <a:pt x="22923" y="812800"/>
                  </a:lnTo>
                  <a:cubicBezTo>
                    <a:pt x="10263" y="812800"/>
                    <a:pt x="0" y="802537"/>
                    <a:pt x="0" y="789877"/>
                  </a:cubicBezTo>
                  <a:lnTo>
                    <a:pt x="0" y="22923"/>
                  </a:lnTo>
                  <a:cubicBezTo>
                    <a:pt x="0" y="10263"/>
                    <a:pt x="10263" y="0"/>
                    <a:pt x="22923" y="0"/>
                  </a:cubicBezTo>
                  <a:close/>
                </a:path>
              </a:pathLst>
            </a:custGeom>
            <a:solidFill>
              <a:srgbClr val="89B79A"/>
            </a:solidFill>
            <a:ln w="38100" cap="rnd">
              <a:solidFill>
                <a:srgbClr val="2A2B39"/>
              </a:solidFill>
              <a:prstDash val="solid"/>
              <a:round/>
            </a:ln>
          </p:spPr>
        </p:sp>
        <p:sp>
          <p:nvSpPr>
            <p:cNvPr name="TextBox 10" id="10"/>
            <p:cNvSpPr txBox="true"/>
            <p:nvPr/>
          </p:nvSpPr>
          <p:spPr>
            <a:xfrm>
              <a:off x="0" y="-9525"/>
              <a:ext cx="1288121" cy="822325"/>
            </a:xfrm>
            <a:prstGeom prst="rect">
              <a:avLst/>
            </a:prstGeom>
          </p:spPr>
          <p:txBody>
            <a:bodyPr anchor="ctr" rtlCol="false" tIns="88213" lIns="88213" bIns="88213" rIns="88213"/>
            <a:lstStyle/>
            <a:p>
              <a:pPr algn="ctr" marL="0" indent="0" lvl="0">
                <a:lnSpc>
                  <a:spcPts val="882"/>
                </a:lnSpc>
                <a:spcBef>
                  <a:spcPct val="0"/>
                </a:spcBef>
              </a:pPr>
            </a:p>
          </p:txBody>
        </p:sp>
      </p:grpSp>
      <p:sp>
        <p:nvSpPr>
          <p:cNvPr name="TextBox 11" id="11"/>
          <p:cNvSpPr txBox="true"/>
          <p:nvPr/>
        </p:nvSpPr>
        <p:spPr>
          <a:xfrm rot="0">
            <a:off x="3487066" y="4548732"/>
            <a:ext cx="2642992" cy="4953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0B4236"/>
                </a:solidFill>
                <a:latin typeface="Neue Machina"/>
                <a:ea typeface="Neue Machina"/>
                <a:cs typeface="Neue Machina"/>
                <a:sym typeface="Neue Machina"/>
              </a:rPr>
              <a:t>Challenges</a:t>
            </a:r>
          </a:p>
        </p:txBody>
      </p:sp>
      <p:grpSp>
        <p:nvGrpSpPr>
          <p:cNvPr name="Group 12" id="12"/>
          <p:cNvGrpSpPr/>
          <p:nvPr/>
        </p:nvGrpSpPr>
        <p:grpSpPr>
          <a:xfrm rot="0">
            <a:off x="3909328" y="2660319"/>
            <a:ext cx="1798469" cy="179846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175"/>
            </a:solidFill>
            <a:ln w="38100" cap="sq">
              <a:solidFill>
                <a:srgbClr val="2A2B39"/>
              </a:solidFill>
              <a:prstDash val="solid"/>
              <a:miter/>
            </a:ln>
          </p:spPr>
        </p:sp>
        <p:sp>
          <p:nvSpPr>
            <p:cNvPr name="TextBox 14" id="14"/>
            <p:cNvSpPr txBox="true"/>
            <p:nvPr/>
          </p:nvSpPr>
          <p:spPr>
            <a:xfrm>
              <a:off x="76200" y="66675"/>
              <a:ext cx="660400" cy="669925"/>
            </a:xfrm>
            <a:prstGeom prst="rect">
              <a:avLst/>
            </a:prstGeom>
          </p:spPr>
          <p:txBody>
            <a:bodyPr anchor="ctr" rtlCol="false" tIns="88213" lIns="88213" bIns="88213" rIns="88213"/>
            <a:lstStyle/>
            <a:p>
              <a:pPr algn="ctr" marL="0" indent="0" lvl="0">
                <a:lnSpc>
                  <a:spcPts val="882"/>
                </a:lnSpc>
                <a:spcBef>
                  <a:spcPct val="0"/>
                </a:spcBef>
              </a:pPr>
            </a:p>
          </p:txBody>
        </p:sp>
      </p:grpSp>
      <p:sp>
        <p:nvSpPr>
          <p:cNvPr name="TextBox 15" id="15"/>
          <p:cNvSpPr txBox="true"/>
          <p:nvPr/>
        </p:nvSpPr>
        <p:spPr>
          <a:xfrm rot="0">
            <a:off x="1445845" y="5324599"/>
            <a:ext cx="7469581" cy="2990760"/>
          </a:xfrm>
          <a:prstGeom prst="rect">
            <a:avLst/>
          </a:prstGeom>
        </p:spPr>
        <p:txBody>
          <a:bodyPr anchor="t" rtlCol="false" tIns="0" lIns="0" bIns="0" rIns="0">
            <a:spAutoFit/>
          </a:bodyPr>
          <a:lstStyle/>
          <a:p>
            <a:pPr algn="l" marL="540766" indent="-270383" lvl="1">
              <a:lnSpc>
                <a:spcPts val="3381"/>
              </a:lnSpc>
              <a:spcBef>
                <a:spcPct val="0"/>
              </a:spcBef>
              <a:buFont typeface="Arial"/>
              <a:buChar char="•"/>
            </a:pPr>
            <a:r>
              <a:rPr lang="en-US" sz="2504">
                <a:solidFill>
                  <a:srgbClr val="2A2B39"/>
                </a:solidFill>
                <a:latin typeface="Garet"/>
                <a:ea typeface="Garet"/>
                <a:cs typeface="Garet"/>
                <a:sym typeface="Garet"/>
              </a:rPr>
              <a:t>C</a:t>
            </a:r>
            <a:r>
              <a:rPr lang="en-US" sz="2504" strike="noStrike" u="none">
                <a:solidFill>
                  <a:srgbClr val="2A2B39"/>
                </a:solidFill>
                <a:latin typeface="Garet"/>
                <a:ea typeface="Garet"/>
                <a:cs typeface="Garet"/>
                <a:sym typeface="Garet"/>
              </a:rPr>
              <a:t>r</a:t>
            </a:r>
            <a:r>
              <a:rPr lang="en-US" sz="2504" strike="noStrike" u="none">
                <a:solidFill>
                  <a:srgbClr val="2A2B39"/>
                </a:solidFill>
                <a:latin typeface="Garet"/>
                <a:ea typeface="Garet"/>
                <a:cs typeface="Garet"/>
                <a:sym typeface="Garet"/>
              </a:rPr>
              <a:t>op</a:t>
            </a:r>
            <a:r>
              <a:rPr lang="en-US" sz="2504" strike="noStrike" u="none">
                <a:solidFill>
                  <a:srgbClr val="2A2B39"/>
                </a:solidFill>
                <a:latin typeface="Garet"/>
                <a:ea typeface="Garet"/>
                <a:cs typeface="Garet"/>
                <a:sym typeface="Garet"/>
              </a:rPr>
              <a:t> re</a:t>
            </a:r>
            <a:r>
              <a:rPr lang="en-US" sz="2504" strike="noStrike" u="none">
                <a:solidFill>
                  <a:srgbClr val="2A2B39"/>
                </a:solidFill>
                <a:latin typeface="Garet"/>
                <a:ea typeface="Garet"/>
                <a:cs typeface="Garet"/>
                <a:sym typeface="Garet"/>
              </a:rPr>
              <a:t>sidu</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 b</a:t>
            </a:r>
            <a:r>
              <a:rPr lang="en-US" sz="2504" strike="noStrike" u="none">
                <a:solidFill>
                  <a:srgbClr val="2A2B39"/>
                </a:solidFill>
                <a:latin typeface="Garet"/>
                <a:ea typeface="Garet"/>
                <a:cs typeface="Garet"/>
                <a:sym typeface="Garet"/>
              </a:rPr>
              <a:t>ur</a:t>
            </a:r>
            <a:r>
              <a:rPr lang="en-US" sz="2504" strike="noStrike" u="none">
                <a:solidFill>
                  <a:srgbClr val="2A2B39"/>
                </a:solidFill>
                <a:latin typeface="Garet"/>
                <a:ea typeface="Garet"/>
                <a:cs typeface="Garet"/>
                <a:sym typeface="Garet"/>
              </a:rPr>
              <a:t>n</a:t>
            </a:r>
            <a:r>
              <a:rPr lang="en-US" sz="2504" strike="noStrike" u="none">
                <a:solidFill>
                  <a:srgbClr val="2A2B39"/>
                </a:solidFill>
                <a:latin typeface="Garet"/>
                <a:ea typeface="Garet"/>
                <a:cs typeface="Garet"/>
                <a:sym typeface="Garet"/>
              </a:rPr>
              <a:t>i</a:t>
            </a:r>
            <a:r>
              <a:rPr lang="en-US" sz="2504" strike="noStrike" u="none">
                <a:solidFill>
                  <a:srgbClr val="2A2B39"/>
                </a:solidFill>
                <a:latin typeface="Garet"/>
                <a:ea typeface="Garet"/>
                <a:cs typeface="Garet"/>
                <a:sym typeface="Garet"/>
              </a:rPr>
              <a:t>ng due</a:t>
            </a:r>
            <a:r>
              <a:rPr lang="en-US" sz="2504" strike="noStrike" u="none">
                <a:solidFill>
                  <a:srgbClr val="2A2B39"/>
                </a:solidFill>
                <a:latin typeface="Garet"/>
                <a:ea typeface="Garet"/>
                <a:cs typeface="Garet"/>
                <a:sym typeface="Garet"/>
              </a:rPr>
              <a:t> to </a:t>
            </a:r>
            <a:r>
              <a:rPr lang="en-US" sz="2504" strike="noStrike" u="none">
                <a:solidFill>
                  <a:srgbClr val="2A2B39"/>
                </a:solidFill>
                <a:latin typeface="Garet"/>
                <a:ea typeface="Garet"/>
                <a:cs typeface="Garet"/>
                <a:sym typeface="Garet"/>
              </a:rPr>
              <a:t>l</a:t>
            </a:r>
            <a:r>
              <a:rPr lang="en-US" sz="2504" strike="noStrike" u="none">
                <a:solidFill>
                  <a:srgbClr val="2A2B39"/>
                </a:solidFill>
                <a:latin typeface="Garet"/>
                <a:ea typeface="Garet"/>
                <a:cs typeface="Garet"/>
                <a:sym typeface="Garet"/>
              </a:rPr>
              <a:t>i</a:t>
            </a:r>
            <a:r>
              <a:rPr lang="en-US" sz="2504" strike="noStrike" u="none">
                <a:solidFill>
                  <a:srgbClr val="2A2B39"/>
                </a:solidFill>
                <a:latin typeface="Garet"/>
                <a:ea typeface="Garet"/>
                <a:cs typeface="Garet"/>
                <a:sym typeface="Garet"/>
              </a:rPr>
              <a:t>m</a:t>
            </a:r>
            <a:r>
              <a:rPr lang="en-US" sz="2504" strike="noStrike" u="none">
                <a:solidFill>
                  <a:srgbClr val="2A2B39"/>
                </a:solidFill>
                <a:latin typeface="Garet"/>
                <a:ea typeface="Garet"/>
                <a:cs typeface="Garet"/>
                <a:sym typeface="Garet"/>
              </a:rPr>
              <a:t>it</a:t>
            </a:r>
            <a:r>
              <a:rPr lang="en-US" sz="2504" strike="noStrike" u="none">
                <a:solidFill>
                  <a:srgbClr val="2A2B39"/>
                </a:solidFill>
                <a:latin typeface="Garet"/>
                <a:ea typeface="Garet"/>
                <a:cs typeface="Garet"/>
                <a:sym typeface="Garet"/>
              </a:rPr>
              <a:t>ed</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dispos</a:t>
            </a:r>
            <a:r>
              <a:rPr lang="en-US" sz="2504" strike="noStrike" u="none">
                <a:solidFill>
                  <a:srgbClr val="2A2B39"/>
                </a:solidFill>
                <a:latin typeface="Garet"/>
                <a:ea typeface="Garet"/>
                <a:cs typeface="Garet"/>
                <a:sym typeface="Garet"/>
              </a:rPr>
              <a:t>a</a:t>
            </a:r>
            <a:r>
              <a:rPr lang="en-US" sz="2504" strike="noStrike" u="none">
                <a:solidFill>
                  <a:srgbClr val="2A2B39"/>
                </a:solidFill>
                <a:latin typeface="Garet"/>
                <a:ea typeface="Garet"/>
                <a:cs typeface="Garet"/>
                <a:sym typeface="Garet"/>
              </a:rPr>
              <a:t>l</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alt</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rn</a:t>
            </a:r>
            <a:r>
              <a:rPr lang="en-US" sz="2504" strike="noStrike" u="none">
                <a:solidFill>
                  <a:srgbClr val="2A2B39"/>
                </a:solidFill>
                <a:latin typeface="Garet"/>
                <a:ea typeface="Garet"/>
                <a:cs typeface="Garet"/>
                <a:sym typeface="Garet"/>
              </a:rPr>
              <a:t>ative</a:t>
            </a:r>
            <a:r>
              <a:rPr lang="en-US" sz="2504" strike="noStrike" u="none">
                <a:solidFill>
                  <a:srgbClr val="2A2B39"/>
                </a:solidFill>
                <a:latin typeface="Garet"/>
                <a:ea typeface="Garet"/>
                <a:cs typeface="Garet"/>
                <a:sym typeface="Garet"/>
              </a:rPr>
              <a:t>s.</a:t>
            </a:r>
          </a:p>
          <a:p>
            <a:pPr algn="l" marL="540766" indent="-270383" lvl="1">
              <a:lnSpc>
                <a:spcPts val="3381"/>
              </a:lnSpc>
              <a:spcBef>
                <a:spcPct val="0"/>
              </a:spcBef>
              <a:buFont typeface="Arial"/>
              <a:buChar char="•"/>
            </a:pPr>
            <a:r>
              <a:rPr lang="en-US" sz="2504" strike="noStrike" u="none">
                <a:solidFill>
                  <a:srgbClr val="2A2B39"/>
                </a:solidFill>
                <a:latin typeface="Garet"/>
                <a:ea typeface="Garet"/>
                <a:cs typeface="Garet"/>
                <a:sym typeface="Garet"/>
              </a:rPr>
              <a:t>Loss</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of pot</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nti</a:t>
            </a:r>
            <a:r>
              <a:rPr lang="en-US" sz="2504" strike="noStrike" u="none">
                <a:solidFill>
                  <a:srgbClr val="2A2B39"/>
                </a:solidFill>
                <a:latin typeface="Garet"/>
                <a:ea typeface="Garet"/>
                <a:cs typeface="Garet"/>
                <a:sym typeface="Garet"/>
              </a:rPr>
              <a:t>a</a:t>
            </a:r>
            <a:r>
              <a:rPr lang="en-US" sz="2504" strike="noStrike" u="none">
                <a:solidFill>
                  <a:srgbClr val="2A2B39"/>
                </a:solidFill>
                <a:latin typeface="Garet"/>
                <a:ea typeface="Garet"/>
                <a:cs typeface="Garet"/>
                <a:sym typeface="Garet"/>
              </a:rPr>
              <a:t>l</a:t>
            </a:r>
            <a:r>
              <a:rPr lang="en-US" sz="2504" strike="noStrike" u="none">
                <a:solidFill>
                  <a:srgbClr val="2A2B39"/>
                </a:solidFill>
                <a:latin typeface="Garet"/>
                <a:ea typeface="Garet"/>
                <a:cs typeface="Garet"/>
                <a:sym typeface="Garet"/>
              </a:rPr>
              <a:t> f</a:t>
            </a:r>
            <a:r>
              <a:rPr lang="en-US" sz="2504" strike="noStrike" u="none">
                <a:solidFill>
                  <a:srgbClr val="2A2B39"/>
                </a:solidFill>
                <a:latin typeface="Garet"/>
                <a:ea typeface="Garet"/>
                <a:cs typeface="Garet"/>
                <a:sym typeface="Garet"/>
              </a:rPr>
              <a:t>arme</a:t>
            </a:r>
            <a:r>
              <a:rPr lang="en-US" sz="2504" strike="noStrike" u="none">
                <a:solidFill>
                  <a:srgbClr val="2A2B39"/>
                </a:solidFill>
                <a:latin typeface="Garet"/>
                <a:ea typeface="Garet"/>
                <a:cs typeface="Garet"/>
                <a:sym typeface="Garet"/>
              </a:rPr>
              <a:t>r</a:t>
            </a:r>
            <a:r>
              <a:rPr lang="en-US" sz="2504" strike="noStrike" u="none">
                <a:solidFill>
                  <a:srgbClr val="2A2B39"/>
                </a:solidFill>
                <a:latin typeface="Garet"/>
                <a:ea typeface="Garet"/>
                <a:cs typeface="Garet"/>
                <a:sym typeface="Garet"/>
              </a:rPr>
              <a:t> inc</a:t>
            </a:r>
            <a:r>
              <a:rPr lang="en-US" sz="2504" strike="noStrike" u="none">
                <a:solidFill>
                  <a:srgbClr val="2A2B39"/>
                </a:solidFill>
                <a:latin typeface="Garet"/>
                <a:ea typeface="Garet"/>
                <a:cs typeface="Garet"/>
                <a:sym typeface="Garet"/>
              </a:rPr>
              <a:t>om</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f</a:t>
            </a:r>
            <a:r>
              <a:rPr lang="en-US" sz="2504" strike="noStrike" u="none">
                <a:solidFill>
                  <a:srgbClr val="2A2B39"/>
                </a:solidFill>
                <a:latin typeface="Garet"/>
                <a:ea typeface="Garet"/>
                <a:cs typeface="Garet"/>
                <a:sym typeface="Garet"/>
              </a:rPr>
              <a:t>r</a:t>
            </a:r>
            <a:r>
              <a:rPr lang="en-US" sz="2504" strike="noStrike" u="none">
                <a:solidFill>
                  <a:srgbClr val="2A2B39"/>
                </a:solidFill>
                <a:latin typeface="Garet"/>
                <a:ea typeface="Garet"/>
                <a:cs typeface="Garet"/>
                <a:sym typeface="Garet"/>
              </a:rPr>
              <a:t>om unus</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d biomass.</a:t>
            </a:r>
          </a:p>
          <a:p>
            <a:pPr algn="l" marL="540766" indent="-270383" lvl="1">
              <a:lnSpc>
                <a:spcPts val="3381"/>
              </a:lnSpc>
              <a:spcBef>
                <a:spcPct val="0"/>
              </a:spcBef>
              <a:buFont typeface="Arial"/>
              <a:buChar char="•"/>
            </a:pPr>
            <a:r>
              <a:rPr lang="en-US" sz="2504" strike="noStrike" u="none">
                <a:solidFill>
                  <a:srgbClr val="2A2B39"/>
                </a:solidFill>
                <a:latin typeface="Garet"/>
                <a:ea typeface="Garet"/>
                <a:cs typeface="Garet"/>
                <a:sym typeface="Garet"/>
              </a:rPr>
              <a:t>High</a:t>
            </a:r>
            <a:r>
              <a:rPr lang="en-US" sz="2504" strike="noStrike" u="none">
                <a:solidFill>
                  <a:srgbClr val="2A2B39"/>
                </a:solidFill>
                <a:latin typeface="Garet"/>
                <a:ea typeface="Garet"/>
                <a:cs typeface="Garet"/>
                <a:sym typeface="Garet"/>
              </a:rPr>
              <a:t> t</a:t>
            </a:r>
            <a:r>
              <a:rPr lang="en-US" sz="2504" strike="noStrike" u="none">
                <a:solidFill>
                  <a:srgbClr val="2A2B39"/>
                </a:solidFill>
                <a:latin typeface="Garet"/>
                <a:ea typeface="Garet"/>
                <a:cs typeface="Garet"/>
                <a:sym typeface="Garet"/>
              </a:rPr>
              <a:t>ransportation</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and coll</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ctio</a:t>
            </a:r>
            <a:r>
              <a:rPr lang="en-US" sz="2504" strike="noStrike" u="none">
                <a:solidFill>
                  <a:srgbClr val="2A2B39"/>
                </a:solidFill>
                <a:latin typeface="Garet"/>
                <a:ea typeface="Garet"/>
                <a:cs typeface="Garet"/>
                <a:sym typeface="Garet"/>
              </a:rPr>
              <a:t>n</a:t>
            </a:r>
            <a:r>
              <a:rPr lang="en-US" sz="2504" strike="noStrike" u="none">
                <a:solidFill>
                  <a:srgbClr val="2A2B39"/>
                </a:solidFill>
                <a:latin typeface="Garet"/>
                <a:ea typeface="Garet"/>
                <a:cs typeface="Garet"/>
                <a:sym typeface="Garet"/>
              </a:rPr>
              <a:t> cos</a:t>
            </a:r>
            <a:r>
              <a:rPr lang="en-US" sz="2504" strike="noStrike" u="none">
                <a:solidFill>
                  <a:srgbClr val="2A2B39"/>
                </a:solidFill>
                <a:latin typeface="Garet"/>
                <a:ea typeface="Garet"/>
                <a:cs typeface="Garet"/>
                <a:sym typeface="Garet"/>
              </a:rPr>
              <a:t>t</a:t>
            </a:r>
            <a:r>
              <a:rPr lang="en-US" sz="2504" strike="noStrike" u="none">
                <a:solidFill>
                  <a:srgbClr val="2A2B39"/>
                </a:solidFill>
                <a:latin typeface="Garet"/>
                <a:ea typeface="Garet"/>
                <a:cs typeface="Garet"/>
                <a:sym typeface="Garet"/>
              </a:rPr>
              <a:t>s.</a:t>
            </a:r>
          </a:p>
          <a:p>
            <a:pPr algn="l" marL="540766" indent="-270383" lvl="1">
              <a:lnSpc>
                <a:spcPts val="3381"/>
              </a:lnSpc>
              <a:spcBef>
                <a:spcPct val="0"/>
              </a:spcBef>
              <a:buFont typeface="Arial"/>
              <a:buChar char="•"/>
            </a:pPr>
            <a:r>
              <a:rPr lang="en-US" sz="2504" strike="noStrike" u="none">
                <a:solidFill>
                  <a:srgbClr val="2A2B39"/>
                </a:solidFill>
                <a:latin typeface="Garet"/>
                <a:ea typeface="Garet"/>
                <a:cs typeface="Garet"/>
                <a:sym typeface="Garet"/>
              </a:rPr>
              <a:t>Un</a:t>
            </a:r>
            <a:r>
              <a:rPr lang="en-US" sz="2504" strike="noStrike" u="none">
                <a:solidFill>
                  <a:srgbClr val="2A2B39"/>
                </a:solidFill>
                <a:latin typeface="Garet"/>
                <a:ea typeface="Garet"/>
                <a:cs typeface="Garet"/>
                <a:sym typeface="Garet"/>
              </a:rPr>
              <a:t>re</a:t>
            </a:r>
            <a:r>
              <a:rPr lang="en-US" sz="2504" strike="noStrike" u="none">
                <a:solidFill>
                  <a:srgbClr val="2A2B39"/>
                </a:solidFill>
                <a:latin typeface="Garet"/>
                <a:ea typeface="Garet"/>
                <a:cs typeface="Garet"/>
                <a:sym typeface="Garet"/>
              </a:rPr>
              <a:t>liable </a:t>
            </a:r>
            <a:r>
              <a:rPr lang="en-US" sz="2504" strike="noStrike" u="none">
                <a:solidFill>
                  <a:srgbClr val="2A2B39"/>
                </a:solidFill>
                <a:latin typeface="Garet"/>
                <a:ea typeface="Garet"/>
                <a:cs typeface="Garet"/>
                <a:sym typeface="Garet"/>
              </a:rPr>
              <a:t>re</a:t>
            </a:r>
            <a:r>
              <a:rPr lang="en-US" sz="2504" strike="noStrike" u="none">
                <a:solidFill>
                  <a:srgbClr val="2A2B39"/>
                </a:solidFill>
                <a:latin typeface="Garet"/>
                <a:ea typeface="Garet"/>
                <a:cs typeface="Garet"/>
                <a:sym typeface="Garet"/>
              </a:rPr>
              <a:t>sidu</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 s</a:t>
            </a:r>
            <a:r>
              <a:rPr lang="en-US" sz="2504" strike="noStrike" u="none">
                <a:solidFill>
                  <a:srgbClr val="2A2B39"/>
                </a:solidFill>
                <a:latin typeface="Garet"/>
                <a:ea typeface="Garet"/>
                <a:cs typeface="Garet"/>
                <a:sym typeface="Garet"/>
              </a:rPr>
              <a:t>u</a:t>
            </a:r>
            <a:r>
              <a:rPr lang="en-US" sz="2504" strike="noStrike" u="none">
                <a:solidFill>
                  <a:srgbClr val="2A2B39"/>
                </a:solidFill>
                <a:latin typeface="Garet"/>
                <a:ea typeface="Garet"/>
                <a:cs typeface="Garet"/>
                <a:sym typeface="Garet"/>
              </a:rPr>
              <a:t>pply and quality fo</a:t>
            </a:r>
            <a:r>
              <a:rPr lang="en-US" sz="2504" strike="noStrike" u="none">
                <a:solidFill>
                  <a:srgbClr val="2A2B39"/>
                </a:solidFill>
                <a:latin typeface="Garet"/>
                <a:ea typeface="Garet"/>
                <a:cs typeface="Garet"/>
                <a:sym typeface="Garet"/>
              </a:rPr>
              <a:t>r</a:t>
            </a:r>
            <a:r>
              <a:rPr lang="en-US" sz="2504" strike="noStrike" u="none">
                <a:solidFill>
                  <a:srgbClr val="2A2B39"/>
                </a:solidFill>
                <a:latin typeface="Garet"/>
                <a:ea typeface="Garet"/>
                <a:cs typeface="Garet"/>
                <a:sym typeface="Garet"/>
              </a:rPr>
              <a:t> industrie</a:t>
            </a:r>
            <a:r>
              <a:rPr lang="en-US" sz="2504" strike="noStrike" u="none">
                <a:solidFill>
                  <a:srgbClr val="2A2B39"/>
                </a:solidFill>
                <a:latin typeface="Garet"/>
                <a:ea typeface="Garet"/>
                <a:cs typeface="Garet"/>
                <a:sym typeface="Garet"/>
              </a:rPr>
              <a:t>s.</a:t>
            </a:r>
          </a:p>
        </p:txBody>
      </p:sp>
      <p:grpSp>
        <p:nvGrpSpPr>
          <p:cNvPr name="Group 16" id="16"/>
          <p:cNvGrpSpPr/>
          <p:nvPr/>
        </p:nvGrpSpPr>
        <p:grpSpPr>
          <a:xfrm rot="0">
            <a:off x="9337136" y="3986235"/>
            <a:ext cx="7767800" cy="4901456"/>
            <a:chOff x="0" y="0"/>
            <a:chExt cx="1288121" cy="812800"/>
          </a:xfrm>
        </p:grpSpPr>
        <p:sp>
          <p:nvSpPr>
            <p:cNvPr name="Freeform 17" id="17"/>
            <p:cNvSpPr/>
            <p:nvPr/>
          </p:nvSpPr>
          <p:spPr>
            <a:xfrm flipH="false" flipV="false" rot="0">
              <a:off x="0" y="0"/>
              <a:ext cx="1288121" cy="812800"/>
            </a:xfrm>
            <a:custGeom>
              <a:avLst/>
              <a:gdLst/>
              <a:ahLst/>
              <a:cxnLst/>
              <a:rect r="r" b="b" t="t" l="l"/>
              <a:pathLst>
                <a:path h="812800" w="1288121">
                  <a:moveTo>
                    <a:pt x="22923" y="0"/>
                  </a:moveTo>
                  <a:lnTo>
                    <a:pt x="1265198" y="0"/>
                  </a:lnTo>
                  <a:cubicBezTo>
                    <a:pt x="1277858" y="0"/>
                    <a:pt x="1288121" y="10263"/>
                    <a:pt x="1288121" y="22923"/>
                  </a:cubicBezTo>
                  <a:lnTo>
                    <a:pt x="1288121" y="789877"/>
                  </a:lnTo>
                  <a:cubicBezTo>
                    <a:pt x="1288121" y="802537"/>
                    <a:pt x="1277858" y="812800"/>
                    <a:pt x="1265198" y="812800"/>
                  </a:cubicBezTo>
                  <a:lnTo>
                    <a:pt x="22923" y="812800"/>
                  </a:lnTo>
                  <a:cubicBezTo>
                    <a:pt x="10263" y="812800"/>
                    <a:pt x="0" y="802537"/>
                    <a:pt x="0" y="789877"/>
                  </a:cubicBezTo>
                  <a:lnTo>
                    <a:pt x="0" y="22923"/>
                  </a:lnTo>
                  <a:cubicBezTo>
                    <a:pt x="0" y="10263"/>
                    <a:pt x="10263" y="0"/>
                    <a:pt x="22923" y="0"/>
                  </a:cubicBezTo>
                  <a:close/>
                </a:path>
              </a:pathLst>
            </a:custGeom>
            <a:solidFill>
              <a:srgbClr val="89B79A"/>
            </a:solidFill>
            <a:ln w="38100" cap="rnd">
              <a:solidFill>
                <a:srgbClr val="2A2B39"/>
              </a:solidFill>
              <a:prstDash val="solid"/>
              <a:round/>
            </a:ln>
          </p:spPr>
        </p:sp>
        <p:sp>
          <p:nvSpPr>
            <p:cNvPr name="TextBox 18" id="18"/>
            <p:cNvSpPr txBox="true"/>
            <p:nvPr/>
          </p:nvSpPr>
          <p:spPr>
            <a:xfrm>
              <a:off x="0" y="-9525"/>
              <a:ext cx="1288121" cy="822325"/>
            </a:xfrm>
            <a:prstGeom prst="rect">
              <a:avLst/>
            </a:prstGeom>
          </p:spPr>
          <p:txBody>
            <a:bodyPr anchor="ctr" rtlCol="false" tIns="88213" lIns="88213" bIns="88213" rIns="88213"/>
            <a:lstStyle/>
            <a:p>
              <a:pPr algn="ctr" marL="0" indent="0" lvl="0">
                <a:lnSpc>
                  <a:spcPts val="882"/>
                </a:lnSpc>
                <a:spcBef>
                  <a:spcPct val="0"/>
                </a:spcBef>
              </a:pPr>
            </a:p>
          </p:txBody>
        </p:sp>
      </p:grpSp>
      <p:sp>
        <p:nvSpPr>
          <p:cNvPr name="TextBox 19" id="19"/>
          <p:cNvSpPr txBox="true"/>
          <p:nvPr/>
        </p:nvSpPr>
        <p:spPr>
          <a:xfrm rot="0">
            <a:off x="11899540" y="4548732"/>
            <a:ext cx="2266395" cy="4953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0B4236"/>
                </a:solidFill>
                <a:latin typeface="Neue Machina"/>
                <a:ea typeface="Neue Machina"/>
                <a:cs typeface="Neue Machina"/>
                <a:sym typeface="Neue Machina"/>
              </a:rPr>
              <a:t>Objectives</a:t>
            </a:r>
          </a:p>
        </p:txBody>
      </p:sp>
      <p:grpSp>
        <p:nvGrpSpPr>
          <p:cNvPr name="Group 20" id="20"/>
          <p:cNvGrpSpPr/>
          <p:nvPr/>
        </p:nvGrpSpPr>
        <p:grpSpPr>
          <a:xfrm rot="0">
            <a:off x="12098838" y="2660319"/>
            <a:ext cx="1798469" cy="179846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175"/>
            </a:solidFill>
            <a:ln w="38100" cap="sq">
              <a:solidFill>
                <a:srgbClr val="2A2B39"/>
              </a:solidFill>
              <a:prstDash val="solid"/>
              <a:miter/>
            </a:ln>
          </p:spPr>
        </p:sp>
        <p:sp>
          <p:nvSpPr>
            <p:cNvPr name="TextBox 22" id="22"/>
            <p:cNvSpPr txBox="true"/>
            <p:nvPr/>
          </p:nvSpPr>
          <p:spPr>
            <a:xfrm>
              <a:off x="76200" y="66675"/>
              <a:ext cx="660400" cy="669925"/>
            </a:xfrm>
            <a:prstGeom prst="rect">
              <a:avLst/>
            </a:prstGeom>
          </p:spPr>
          <p:txBody>
            <a:bodyPr anchor="ctr" rtlCol="false" tIns="88213" lIns="88213" bIns="88213" rIns="88213"/>
            <a:lstStyle/>
            <a:p>
              <a:pPr algn="ctr" marL="0" indent="0" lvl="0">
                <a:lnSpc>
                  <a:spcPts val="882"/>
                </a:lnSpc>
                <a:spcBef>
                  <a:spcPct val="0"/>
                </a:spcBef>
              </a:pPr>
            </a:p>
          </p:txBody>
        </p:sp>
      </p:grpSp>
      <p:sp>
        <p:nvSpPr>
          <p:cNvPr name="TextBox 23" id="23"/>
          <p:cNvSpPr txBox="true"/>
          <p:nvPr/>
        </p:nvSpPr>
        <p:spPr>
          <a:xfrm rot="0">
            <a:off x="9635356" y="5139282"/>
            <a:ext cx="7469581" cy="3419385"/>
          </a:xfrm>
          <a:prstGeom prst="rect">
            <a:avLst/>
          </a:prstGeom>
        </p:spPr>
        <p:txBody>
          <a:bodyPr anchor="t" rtlCol="false" tIns="0" lIns="0" bIns="0" rIns="0">
            <a:spAutoFit/>
          </a:bodyPr>
          <a:lstStyle/>
          <a:p>
            <a:pPr algn="l" marL="540766" indent="-270383" lvl="1">
              <a:lnSpc>
                <a:spcPts val="3381"/>
              </a:lnSpc>
              <a:buFont typeface="Arial"/>
              <a:buChar char="•"/>
            </a:pPr>
            <a:r>
              <a:rPr lang="en-US" sz="2504">
                <a:solidFill>
                  <a:srgbClr val="2A2B39"/>
                </a:solidFill>
                <a:latin typeface="Garet"/>
                <a:ea typeface="Garet"/>
                <a:cs typeface="Garet"/>
                <a:sym typeface="Garet"/>
              </a:rPr>
              <a:t>C</a:t>
            </a:r>
            <a:r>
              <a:rPr lang="en-US" sz="2504" strike="noStrike" u="none">
                <a:solidFill>
                  <a:srgbClr val="2A2B39"/>
                </a:solidFill>
                <a:latin typeface="Garet"/>
                <a:ea typeface="Garet"/>
                <a:cs typeface="Garet"/>
                <a:sym typeface="Garet"/>
              </a:rPr>
              <a:t>reate an accessi</a:t>
            </a:r>
            <a:r>
              <a:rPr lang="en-US" sz="2504" strike="noStrike" u="none">
                <a:solidFill>
                  <a:srgbClr val="2A2B39"/>
                </a:solidFill>
                <a:latin typeface="Garet"/>
                <a:ea typeface="Garet"/>
                <a:cs typeface="Garet"/>
                <a:sym typeface="Garet"/>
              </a:rPr>
              <a:t>bl</a:t>
            </a:r>
            <a:r>
              <a:rPr lang="en-US" sz="2504" strike="noStrike" u="none">
                <a:solidFill>
                  <a:srgbClr val="2A2B39"/>
                </a:solidFill>
                <a:latin typeface="Garet"/>
                <a:ea typeface="Garet"/>
                <a:cs typeface="Garet"/>
                <a:sym typeface="Garet"/>
              </a:rPr>
              <a:t>e </a:t>
            </a:r>
            <a:r>
              <a:rPr lang="en-US" sz="2504" strike="noStrike" u="none">
                <a:solidFill>
                  <a:srgbClr val="2A2B39"/>
                </a:solidFill>
                <a:latin typeface="Garet"/>
                <a:ea typeface="Garet"/>
                <a:cs typeface="Garet"/>
                <a:sym typeface="Garet"/>
              </a:rPr>
              <a:t>ma</a:t>
            </a:r>
            <a:r>
              <a:rPr lang="en-US" sz="2504" strike="noStrike" u="none">
                <a:solidFill>
                  <a:srgbClr val="2A2B39"/>
                </a:solidFill>
                <a:latin typeface="Garet"/>
                <a:ea typeface="Garet"/>
                <a:cs typeface="Garet"/>
                <a:sym typeface="Garet"/>
              </a:rPr>
              <a:t>rketpl</a:t>
            </a:r>
            <a:r>
              <a:rPr lang="en-US" sz="2504" strike="noStrike" u="none">
                <a:solidFill>
                  <a:srgbClr val="2A2B39"/>
                </a:solidFill>
                <a:latin typeface="Garet"/>
                <a:ea typeface="Garet"/>
                <a:cs typeface="Garet"/>
                <a:sym typeface="Garet"/>
              </a:rPr>
              <a:t>ac</a:t>
            </a:r>
            <a:r>
              <a:rPr lang="en-US" sz="2504" strike="noStrike" u="none">
                <a:solidFill>
                  <a:srgbClr val="2A2B39"/>
                </a:solidFill>
                <a:latin typeface="Garet"/>
                <a:ea typeface="Garet"/>
                <a:cs typeface="Garet"/>
                <a:sym typeface="Garet"/>
              </a:rPr>
              <a:t>e fo</a:t>
            </a:r>
            <a:r>
              <a:rPr lang="en-US" sz="2504" strike="noStrike" u="none">
                <a:solidFill>
                  <a:srgbClr val="2A2B39"/>
                </a:solidFill>
                <a:latin typeface="Garet"/>
                <a:ea typeface="Garet"/>
                <a:cs typeface="Garet"/>
                <a:sym typeface="Garet"/>
              </a:rPr>
              <a:t>r</a:t>
            </a:r>
            <a:r>
              <a:rPr lang="en-US" sz="2504" strike="noStrike" u="none">
                <a:solidFill>
                  <a:srgbClr val="2A2B39"/>
                </a:solidFill>
                <a:latin typeface="Garet"/>
                <a:ea typeface="Garet"/>
                <a:cs typeface="Garet"/>
                <a:sym typeface="Garet"/>
              </a:rPr>
              <a:t> far</a:t>
            </a:r>
            <a:r>
              <a:rPr lang="en-US" sz="2504" strike="noStrike" u="none">
                <a:solidFill>
                  <a:srgbClr val="2A2B39"/>
                </a:solidFill>
                <a:latin typeface="Garet"/>
                <a:ea typeface="Garet"/>
                <a:cs typeface="Garet"/>
                <a:sym typeface="Garet"/>
              </a:rPr>
              <a:t>m</a:t>
            </a:r>
            <a:r>
              <a:rPr lang="en-US" sz="2504" strike="noStrike" u="none">
                <a:solidFill>
                  <a:srgbClr val="2A2B39"/>
                </a:solidFill>
                <a:latin typeface="Garet"/>
                <a:ea typeface="Garet"/>
                <a:cs typeface="Garet"/>
                <a:sym typeface="Garet"/>
              </a:rPr>
              <a:t>ers</a:t>
            </a:r>
            <a:r>
              <a:rPr lang="en-US" sz="2504" strike="noStrike" u="none">
                <a:solidFill>
                  <a:srgbClr val="2A2B39"/>
                </a:solidFill>
                <a:latin typeface="Garet"/>
                <a:ea typeface="Garet"/>
                <a:cs typeface="Garet"/>
                <a:sym typeface="Garet"/>
              </a:rPr>
              <a:t> t</a:t>
            </a:r>
            <a:r>
              <a:rPr lang="en-US" sz="2504" strike="noStrike" u="none">
                <a:solidFill>
                  <a:srgbClr val="2A2B39"/>
                </a:solidFill>
                <a:latin typeface="Garet"/>
                <a:ea typeface="Garet"/>
                <a:cs typeface="Garet"/>
                <a:sym typeface="Garet"/>
              </a:rPr>
              <a:t>o</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s</a:t>
            </a:r>
            <a:r>
              <a:rPr lang="en-US" sz="2504" strike="noStrike" u="none">
                <a:solidFill>
                  <a:srgbClr val="2A2B39"/>
                </a:solidFill>
                <a:latin typeface="Garet"/>
                <a:ea typeface="Garet"/>
                <a:cs typeface="Garet"/>
                <a:sym typeface="Garet"/>
              </a:rPr>
              <a:t>ell</a:t>
            </a:r>
            <a:r>
              <a:rPr lang="en-US" sz="2504" strike="noStrike" u="none">
                <a:solidFill>
                  <a:srgbClr val="2A2B39"/>
                </a:solidFill>
                <a:latin typeface="Garet"/>
                <a:ea typeface="Garet"/>
                <a:cs typeface="Garet"/>
                <a:sym typeface="Garet"/>
              </a:rPr>
              <a:t> cro</a:t>
            </a:r>
            <a:r>
              <a:rPr lang="en-US" sz="2504" strike="noStrike" u="none">
                <a:solidFill>
                  <a:srgbClr val="2A2B39"/>
                </a:solidFill>
                <a:latin typeface="Garet"/>
                <a:ea typeface="Garet"/>
                <a:cs typeface="Garet"/>
                <a:sym typeface="Garet"/>
              </a:rPr>
              <a:t>p</a:t>
            </a:r>
            <a:r>
              <a:rPr lang="en-US" sz="2504" strike="noStrike" u="none">
                <a:solidFill>
                  <a:srgbClr val="2A2B39"/>
                </a:solidFill>
                <a:latin typeface="Garet"/>
                <a:ea typeface="Garet"/>
                <a:cs typeface="Garet"/>
                <a:sym typeface="Garet"/>
              </a:rPr>
              <a:t> </a:t>
            </a:r>
            <a:r>
              <a:rPr lang="en-US" sz="2504" strike="noStrike" u="none">
                <a:solidFill>
                  <a:srgbClr val="2A2B39"/>
                </a:solidFill>
                <a:latin typeface="Garet"/>
                <a:ea typeface="Garet"/>
                <a:cs typeface="Garet"/>
                <a:sym typeface="Garet"/>
              </a:rPr>
              <a:t>residu</a:t>
            </a:r>
            <a:r>
              <a:rPr lang="en-US" sz="2504" strike="noStrike" u="none">
                <a:solidFill>
                  <a:srgbClr val="2A2B39"/>
                </a:solidFill>
                <a:latin typeface="Garet"/>
                <a:ea typeface="Garet"/>
                <a:cs typeface="Garet"/>
                <a:sym typeface="Garet"/>
              </a:rPr>
              <a:t>e.</a:t>
            </a:r>
          </a:p>
          <a:p>
            <a:pPr algn="l" marL="540766" indent="-270383" lvl="1">
              <a:lnSpc>
                <a:spcPts val="3381"/>
              </a:lnSpc>
              <a:buFont typeface="Arial"/>
              <a:buChar char="•"/>
            </a:pPr>
            <a:r>
              <a:rPr lang="en-US" sz="2504" strike="noStrike" u="none">
                <a:solidFill>
                  <a:srgbClr val="2A2B39"/>
                </a:solidFill>
                <a:latin typeface="Garet"/>
                <a:ea typeface="Garet"/>
                <a:cs typeface="Garet"/>
                <a:sym typeface="Garet"/>
              </a:rPr>
              <a:t>In</a:t>
            </a:r>
            <a:r>
              <a:rPr lang="en-US" sz="2504" strike="noStrike" u="none">
                <a:solidFill>
                  <a:srgbClr val="2A2B39"/>
                </a:solidFill>
                <a:latin typeface="Garet"/>
                <a:ea typeface="Garet"/>
                <a:cs typeface="Garet"/>
                <a:sym typeface="Garet"/>
              </a:rPr>
              <a:t>cre</a:t>
            </a:r>
            <a:r>
              <a:rPr lang="en-US" sz="2504" strike="noStrike" u="none">
                <a:solidFill>
                  <a:srgbClr val="2A2B39"/>
                </a:solidFill>
                <a:latin typeface="Garet"/>
                <a:ea typeface="Garet"/>
                <a:cs typeface="Garet"/>
                <a:sym typeface="Garet"/>
              </a:rPr>
              <a:t>ase farmer income by </a:t>
            </a:r>
            <a:r>
              <a:rPr lang="en-US" sz="2504" strike="noStrike" u="none">
                <a:solidFill>
                  <a:srgbClr val="2A2B39"/>
                </a:solidFill>
                <a:latin typeface="Garet"/>
                <a:ea typeface="Garet"/>
                <a:cs typeface="Garet"/>
                <a:sym typeface="Garet"/>
              </a:rPr>
              <a:t>co</a:t>
            </a:r>
            <a:r>
              <a:rPr lang="en-US" sz="2504" strike="noStrike" u="none">
                <a:solidFill>
                  <a:srgbClr val="2A2B39"/>
                </a:solidFill>
                <a:latin typeface="Garet"/>
                <a:ea typeface="Garet"/>
                <a:cs typeface="Garet"/>
                <a:sym typeface="Garet"/>
              </a:rPr>
              <a:t>n</a:t>
            </a:r>
            <a:r>
              <a:rPr lang="en-US" sz="2504" strike="noStrike" u="none">
                <a:solidFill>
                  <a:srgbClr val="2A2B39"/>
                </a:solidFill>
                <a:latin typeface="Garet"/>
                <a:ea typeface="Garet"/>
                <a:cs typeface="Garet"/>
                <a:sym typeface="Garet"/>
              </a:rPr>
              <a:t>v</a:t>
            </a:r>
            <a:r>
              <a:rPr lang="en-US" sz="2504" strike="noStrike" u="none">
                <a:solidFill>
                  <a:srgbClr val="2A2B39"/>
                </a:solidFill>
                <a:latin typeface="Garet"/>
                <a:ea typeface="Garet"/>
                <a:cs typeface="Garet"/>
                <a:sym typeface="Garet"/>
              </a:rPr>
              <a:t>erti</a:t>
            </a:r>
            <a:r>
              <a:rPr lang="en-US" sz="2504" strike="noStrike" u="none">
                <a:solidFill>
                  <a:srgbClr val="2A2B39"/>
                </a:solidFill>
                <a:latin typeface="Garet"/>
                <a:ea typeface="Garet"/>
                <a:cs typeface="Garet"/>
                <a:sym typeface="Garet"/>
              </a:rPr>
              <a:t>n</a:t>
            </a:r>
            <a:r>
              <a:rPr lang="en-US" sz="2504" strike="noStrike" u="none">
                <a:solidFill>
                  <a:srgbClr val="2A2B39"/>
                </a:solidFill>
                <a:latin typeface="Garet"/>
                <a:ea typeface="Garet"/>
                <a:cs typeface="Garet"/>
                <a:sym typeface="Garet"/>
              </a:rPr>
              <a:t>g wast</a:t>
            </a:r>
            <a:r>
              <a:rPr lang="en-US" sz="2504" strike="noStrike" u="none">
                <a:solidFill>
                  <a:srgbClr val="2A2B39"/>
                </a:solidFill>
                <a:latin typeface="Garet"/>
                <a:ea typeface="Garet"/>
                <a:cs typeface="Garet"/>
                <a:sym typeface="Garet"/>
              </a:rPr>
              <a:t>e </a:t>
            </a:r>
            <a:r>
              <a:rPr lang="en-US" sz="2504" strike="noStrike" u="none">
                <a:solidFill>
                  <a:srgbClr val="2A2B39"/>
                </a:solidFill>
                <a:latin typeface="Garet"/>
                <a:ea typeface="Garet"/>
                <a:cs typeface="Garet"/>
                <a:sym typeface="Garet"/>
              </a:rPr>
              <a:t>in</a:t>
            </a:r>
            <a:r>
              <a:rPr lang="en-US" sz="2504" strike="noStrike" u="none">
                <a:solidFill>
                  <a:srgbClr val="2A2B39"/>
                </a:solidFill>
                <a:latin typeface="Garet"/>
                <a:ea typeface="Garet"/>
                <a:cs typeface="Garet"/>
                <a:sym typeface="Garet"/>
              </a:rPr>
              <a:t>to</a:t>
            </a:r>
            <a:r>
              <a:rPr lang="en-US" sz="2504" strike="noStrike" u="none">
                <a:solidFill>
                  <a:srgbClr val="2A2B39"/>
                </a:solidFill>
                <a:latin typeface="Garet"/>
                <a:ea typeface="Garet"/>
                <a:cs typeface="Garet"/>
                <a:sym typeface="Garet"/>
              </a:rPr>
              <a:t> a </a:t>
            </a:r>
            <a:r>
              <a:rPr lang="en-US" sz="2504" strike="noStrike" u="none">
                <a:solidFill>
                  <a:srgbClr val="2A2B39"/>
                </a:solidFill>
                <a:latin typeface="Garet"/>
                <a:ea typeface="Garet"/>
                <a:cs typeface="Garet"/>
                <a:sym typeface="Garet"/>
              </a:rPr>
              <a:t>va</a:t>
            </a:r>
            <a:r>
              <a:rPr lang="en-US" sz="2504" strike="noStrike" u="none">
                <a:solidFill>
                  <a:srgbClr val="2A2B39"/>
                </a:solidFill>
                <a:latin typeface="Garet"/>
                <a:ea typeface="Garet"/>
                <a:cs typeface="Garet"/>
                <a:sym typeface="Garet"/>
              </a:rPr>
              <a:t>l</a:t>
            </a:r>
            <a:r>
              <a:rPr lang="en-US" sz="2504" strike="noStrike" u="none">
                <a:solidFill>
                  <a:srgbClr val="2A2B39"/>
                </a:solidFill>
                <a:latin typeface="Garet"/>
                <a:ea typeface="Garet"/>
                <a:cs typeface="Garet"/>
                <a:sym typeface="Garet"/>
              </a:rPr>
              <a:t>uab</a:t>
            </a:r>
            <a:r>
              <a:rPr lang="en-US" sz="2504" strike="noStrike" u="none">
                <a:solidFill>
                  <a:srgbClr val="2A2B39"/>
                </a:solidFill>
                <a:latin typeface="Garet"/>
                <a:ea typeface="Garet"/>
                <a:cs typeface="Garet"/>
                <a:sym typeface="Garet"/>
              </a:rPr>
              <a:t>le reso</a:t>
            </a:r>
            <a:r>
              <a:rPr lang="en-US" sz="2504" strike="noStrike" u="none">
                <a:solidFill>
                  <a:srgbClr val="2A2B39"/>
                </a:solidFill>
                <a:latin typeface="Garet"/>
                <a:ea typeface="Garet"/>
                <a:cs typeface="Garet"/>
                <a:sym typeface="Garet"/>
              </a:rPr>
              <a:t>ur</a:t>
            </a:r>
            <a:r>
              <a:rPr lang="en-US" sz="2504" strike="noStrike" u="none">
                <a:solidFill>
                  <a:srgbClr val="2A2B39"/>
                </a:solidFill>
                <a:latin typeface="Garet"/>
                <a:ea typeface="Garet"/>
                <a:cs typeface="Garet"/>
                <a:sym typeface="Garet"/>
              </a:rPr>
              <a:t>c</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a:t>
            </a:r>
          </a:p>
          <a:p>
            <a:pPr algn="l" marL="540766" indent="-270383" lvl="1">
              <a:lnSpc>
                <a:spcPts val="3381"/>
              </a:lnSpc>
              <a:buFont typeface="Arial"/>
              <a:buChar char="•"/>
            </a:pP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nable </a:t>
            </a:r>
            <a:r>
              <a:rPr lang="en-US" sz="2504" strike="noStrike" u="none">
                <a:solidFill>
                  <a:srgbClr val="2A2B39"/>
                </a:solidFill>
                <a:latin typeface="Garet"/>
                <a:ea typeface="Garet"/>
                <a:cs typeface="Garet"/>
                <a:sym typeface="Garet"/>
              </a:rPr>
              <a:t>AI-based matching between </a:t>
            </a:r>
            <a:r>
              <a:rPr lang="en-US" sz="2504" strike="noStrike" u="none">
                <a:solidFill>
                  <a:srgbClr val="2A2B39"/>
                </a:solidFill>
                <a:latin typeface="Garet"/>
                <a:ea typeface="Garet"/>
                <a:cs typeface="Garet"/>
                <a:sym typeface="Garet"/>
              </a:rPr>
              <a:t>residue suppl</a:t>
            </a:r>
            <a:r>
              <a:rPr lang="en-US" sz="2504" strike="noStrike" u="none">
                <a:solidFill>
                  <a:srgbClr val="2A2B39"/>
                </a:solidFill>
                <a:latin typeface="Garet"/>
                <a:ea typeface="Garet"/>
                <a:cs typeface="Garet"/>
                <a:sym typeface="Garet"/>
              </a:rPr>
              <a:t>iers</a:t>
            </a:r>
            <a:r>
              <a:rPr lang="en-US" sz="2504" strike="noStrike" u="none">
                <a:solidFill>
                  <a:srgbClr val="2A2B39"/>
                </a:solidFill>
                <a:latin typeface="Garet"/>
                <a:ea typeface="Garet"/>
                <a:cs typeface="Garet"/>
                <a:sym typeface="Garet"/>
              </a:rPr>
              <a:t> and </a:t>
            </a:r>
            <a:r>
              <a:rPr lang="en-US" sz="2504" strike="noStrike" u="none">
                <a:solidFill>
                  <a:srgbClr val="2A2B39"/>
                </a:solidFill>
                <a:latin typeface="Garet"/>
                <a:ea typeface="Garet"/>
                <a:cs typeface="Garet"/>
                <a:sym typeface="Garet"/>
              </a:rPr>
              <a:t>b</a:t>
            </a:r>
            <a:r>
              <a:rPr lang="en-US" sz="2504" strike="noStrike" u="none">
                <a:solidFill>
                  <a:srgbClr val="2A2B39"/>
                </a:solidFill>
                <a:latin typeface="Garet"/>
                <a:ea typeface="Garet"/>
                <a:cs typeface="Garet"/>
                <a:sym typeface="Garet"/>
              </a:rPr>
              <a:t>uy</a:t>
            </a:r>
            <a:r>
              <a:rPr lang="en-US" sz="2504" strike="noStrike" u="none">
                <a:solidFill>
                  <a:srgbClr val="2A2B39"/>
                </a:solidFill>
                <a:latin typeface="Garet"/>
                <a:ea typeface="Garet"/>
                <a:cs typeface="Garet"/>
                <a:sym typeface="Garet"/>
              </a:rPr>
              <a:t>e</a:t>
            </a:r>
            <a:r>
              <a:rPr lang="en-US" sz="2504" strike="noStrike" u="none">
                <a:solidFill>
                  <a:srgbClr val="2A2B39"/>
                </a:solidFill>
                <a:latin typeface="Garet"/>
                <a:ea typeface="Garet"/>
                <a:cs typeface="Garet"/>
                <a:sym typeface="Garet"/>
              </a:rPr>
              <a:t>rs.</a:t>
            </a:r>
          </a:p>
          <a:p>
            <a:pPr algn="l" marL="540766" indent="-270383" lvl="1">
              <a:lnSpc>
                <a:spcPts val="3381"/>
              </a:lnSpc>
              <a:buFont typeface="Arial"/>
              <a:buChar char="•"/>
            </a:pPr>
            <a:r>
              <a:rPr lang="en-US" sz="2504" strike="noStrike" u="none">
                <a:solidFill>
                  <a:srgbClr val="2A2B39"/>
                </a:solidFill>
                <a:latin typeface="Garet"/>
                <a:ea typeface="Garet"/>
                <a:cs typeface="Garet"/>
                <a:sym typeface="Garet"/>
              </a:rPr>
              <a:t>Promote </a:t>
            </a:r>
            <a:r>
              <a:rPr lang="en-US" sz="2504" strike="noStrike" u="none">
                <a:solidFill>
                  <a:srgbClr val="2A2B39"/>
                </a:solidFill>
                <a:latin typeface="Garet"/>
                <a:ea typeface="Garet"/>
                <a:cs typeface="Garet"/>
                <a:sym typeface="Garet"/>
              </a:rPr>
              <a:t>susta</a:t>
            </a:r>
            <a:r>
              <a:rPr lang="en-US" sz="2504" strike="noStrike" u="none">
                <a:solidFill>
                  <a:srgbClr val="2A2B39"/>
                </a:solidFill>
                <a:latin typeface="Garet"/>
                <a:ea typeface="Garet"/>
                <a:cs typeface="Garet"/>
                <a:sym typeface="Garet"/>
              </a:rPr>
              <a:t>in</a:t>
            </a:r>
            <a:r>
              <a:rPr lang="en-US" sz="2504" strike="noStrike" u="none">
                <a:solidFill>
                  <a:srgbClr val="2A2B39"/>
                </a:solidFill>
                <a:latin typeface="Garet"/>
                <a:ea typeface="Garet"/>
                <a:cs typeface="Garet"/>
                <a:sym typeface="Garet"/>
              </a:rPr>
              <a:t>able an</a:t>
            </a:r>
            <a:r>
              <a:rPr lang="en-US" sz="2504" strike="noStrike" u="none">
                <a:solidFill>
                  <a:srgbClr val="2A2B39"/>
                </a:solidFill>
                <a:latin typeface="Garet"/>
                <a:ea typeface="Garet"/>
                <a:cs typeface="Garet"/>
                <a:sym typeface="Garet"/>
              </a:rPr>
              <a:t>d</a:t>
            </a:r>
            <a:r>
              <a:rPr lang="en-US" sz="2504" strike="noStrike" u="none">
                <a:solidFill>
                  <a:srgbClr val="2A2B39"/>
                </a:solidFill>
                <a:latin typeface="Garet"/>
                <a:ea typeface="Garet"/>
                <a:cs typeface="Garet"/>
                <a:sym typeface="Garet"/>
              </a:rPr>
              <a:t> circular </a:t>
            </a:r>
            <a:r>
              <a:rPr lang="en-US" sz="2504" strike="noStrike" u="none">
                <a:solidFill>
                  <a:srgbClr val="2A2B39"/>
                </a:solidFill>
                <a:latin typeface="Garet"/>
                <a:ea typeface="Garet"/>
                <a:cs typeface="Garet"/>
                <a:sym typeface="Garet"/>
              </a:rPr>
              <a:t>us</a:t>
            </a:r>
            <a:r>
              <a:rPr lang="en-US" sz="2504" strike="noStrike" u="none">
                <a:solidFill>
                  <a:srgbClr val="2A2B39"/>
                </a:solidFill>
                <a:latin typeface="Garet"/>
                <a:ea typeface="Garet"/>
                <a:cs typeface="Garet"/>
                <a:sym typeface="Garet"/>
              </a:rPr>
              <a:t>e of agricul</a:t>
            </a:r>
            <a:r>
              <a:rPr lang="en-US" sz="2504" strike="noStrike" u="none">
                <a:solidFill>
                  <a:srgbClr val="2A2B39"/>
                </a:solidFill>
                <a:latin typeface="Garet"/>
                <a:ea typeface="Garet"/>
                <a:cs typeface="Garet"/>
                <a:sym typeface="Garet"/>
              </a:rPr>
              <a:t>t</a:t>
            </a:r>
            <a:r>
              <a:rPr lang="en-US" sz="2504" strike="noStrike" u="none">
                <a:solidFill>
                  <a:srgbClr val="2A2B39"/>
                </a:solidFill>
                <a:latin typeface="Garet"/>
                <a:ea typeface="Garet"/>
                <a:cs typeface="Garet"/>
                <a:sym typeface="Garet"/>
              </a:rPr>
              <a:t>u</a:t>
            </a:r>
            <a:r>
              <a:rPr lang="en-US" sz="2504" strike="noStrike" u="none">
                <a:solidFill>
                  <a:srgbClr val="2A2B39"/>
                </a:solidFill>
                <a:latin typeface="Garet"/>
                <a:ea typeface="Garet"/>
                <a:cs typeface="Garet"/>
                <a:sym typeface="Garet"/>
              </a:rPr>
              <a:t>r</a:t>
            </a:r>
            <a:r>
              <a:rPr lang="en-US" sz="2504" strike="noStrike" u="none">
                <a:solidFill>
                  <a:srgbClr val="2A2B39"/>
                </a:solidFill>
                <a:latin typeface="Garet"/>
                <a:ea typeface="Garet"/>
                <a:cs typeface="Garet"/>
                <a:sym typeface="Garet"/>
              </a:rPr>
              <a:t>al b</a:t>
            </a:r>
            <a:r>
              <a:rPr lang="en-US" sz="2504" strike="noStrike" u="none">
                <a:solidFill>
                  <a:srgbClr val="2A2B39"/>
                </a:solidFill>
                <a:latin typeface="Garet"/>
                <a:ea typeface="Garet"/>
                <a:cs typeface="Garet"/>
                <a:sym typeface="Garet"/>
              </a:rPr>
              <a:t>i</a:t>
            </a:r>
            <a:r>
              <a:rPr lang="en-US" sz="2504" strike="noStrike" u="none">
                <a:solidFill>
                  <a:srgbClr val="2A2B39"/>
                </a:solidFill>
                <a:latin typeface="Garet"/>
                <a:ea typeface="Garet"/>
                <a:cs typeface="Garet"/>
                <a:sym typeface="Garet"/>
              </a:rPr>
              <a:t>omas</a:t>
            </a:r>
            <a:r>
              <a:rPr lang="en-US" sz="2504" strike="noStrike" u="none">
                <a:solidFill>
                  <a:srgbClr val="2A2B39"/>
                </a:solidFill>
                <a:latin typeface="Garet"/>
                <a:ea typeface="Garet"/>
                <a:cs typeface="Garet"/>
                <a:sym typeface="Garet"/>
              </a:rPr>
              <a:t>s.</a:t>
            </a:r>
          </a:p>
        </p:txBody>
      </p:sp>
      <p:sp>
        <p:nvSpPr>
          <p:cNvPr name="Freeform 24" id="24"/>
          <p:cNvSpPr/>
          <p:nvPr/>
        </p:nvSpPr>
        <p:spPr>
          <a:xfrm flipH="true" flipV="false" rot="-179024">
            <a:off x="12527366" y="3023241"/>
            <a:ext cx="893204" cy="1072625"/>
          </a:xfrm>
          <a:custGeom>
            <a:avLst/>
            <a:gdLst/>
            <a:ahLst/>
            <a:cxnLst/>
            <a:rect r="r" b="b" t="t" l="l"/>
            <a:pathLst>
              <a:path h="1072625" w="893204">
                <a:moveTo>
                  <a:pt x="893204" y="0"/>
                </a:moveTo>
                <a:lnTo>
                  <a:pt x="0" y="0"/>
                </a:lnTo>
                <a:lnTo>
                  <a:pt x="0" y="1072625"/>
                </a:lnTo>
                <a:lnTo>
                  <a:pt x="893204" y="1072625"/>
                </a:lnTo>
                <a:lnTo>
                  <a:pt x="893204"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5" id="25"/>
          <p:cNvSpPr/>
          <p:nvPr/>
        </p:nvSpPr>
        <p:spPr>
          <a:xfrm flipH="false" flipV="false" rot="0">
            <a:off x="4383464" y="3088319"/>
            <a:ext cx="991124" cy="942469"/>
          </a:xfrm>
          <a:custGeom>
            <a:avLst/>
            <a:gdLst/>
            <a:ahLst/>
            <a:cxnLst/>
            <a:rect r="r" b="b" t="t" l="l"/>
            <a:pathLst>
              <a:path h="942469" w="991124">
                <a:moveTo>
                  <a:pt x="0" y="0"/>
                </a:moveTo>
                <a:lnTo>
                  <a:pt x="991124" y="0"/>
                </a:lnTo>
                <a:lnTo>
                  <a:pt x="991124" y="942469"/>
                </a:lnTo>
                <a:lnTo>
                  <a:pt x="0" y="9424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0B4236"/>
        </a:solidFill>
      </p:bgPr>
    </p:bg>
    <p:spTree>
      <p:nvGrpSpPr>
        <p:cNvPr id="1" name=""/>
        <p:cNvGrpSpPr/>
        <p:nvPr/>
      </p:nvGrpSpPr>
      <p:grpSpPr>
        <a:xfrm>
          <a:off x="0" y="0"/>
          <a:ext cx="0" cy="0"/>
          <a:chOff x="0" y="0"/>
          <a:chExt cx="0" cy="0"/>
        </a:xfrm>
      </p:grpSpPr>
      <p:grpSp>
        <p:nvGrpSpPr>
          <p:cNvPr name="Group 2" id="2"/>
          <p:cNvGrpSpPr/>
          <p:nvPr/>
        </p:nvGrpSpPr>
        <p:grpSpPr>
          <a:xfrm rot="0">
            <a:off x="4483995" y="733398"/>
            <a:ext cx="938240" cy="938240"/>
            <a:chOff x="0" y="0"/>
            <a:chExt cx="698500" cy="698500"/>
          </a:xfrm>
        </p:grpSpPr>
        <p:sp>
          <p:nvSpPr>
            <p:cNvPr name="Freeform 3" id="3"/>
            <p:cNvSpPr/>
            <p:nvPr/>
          </p:nvSpPr>
          <p:spPr>
            <a:xfrm flipH="false" flipV="false" rot="0">
              <a:off x="0" y="0"/>
              <a:ext cx="698500" cy="698500"/>
            </a:xfrm>
            <a:custGeom>
              <a:avLst/>
              <a:gdLst/>
              <a:ahLst/>
              <a:cxnLst/>
              <a:rect r="r" b="b" t="t" l="l"/>
              <a:pathLst>
                <a:path h="698500" w="698500">
                  <a:moveTo>
                    <a:pt x="629260" y="281037"/>
                  </a:moveTo>
                  <a:cubicBezTo>
                    <a:pt x="583433" y="281037"/>
                    <a:pt x="500858" y="298666"/>
                    <a:pt x="431161" y="316094"/>
                  </a:cubicBezTo>
                  <a:cubicBezTo>
                    <a:pt x="492925" y="279345"/>
                    <a:pt x="564222" y="233610"/>
                    <a:pt x="596877" y="200955"/>
                  </a:cubicBezTo>
                  <a:cubicBezTo>
                    <a:pt x="623929" y="173883"/>
                    <a:pt x="623929" y="130113"/>
                    <a:pt x="596877" y="103060"/>
                  </a:cubicBezTo>
                  <a:cubicBezTo>
                    <a:pt x="569825" y="76008"/>
                    <a:pt x="526035" y="76008"/>
                    <a:pt x="498983" y="103060"/>
                  </a:cubicBezTo>
                  <a:cubicBezTo>
                    <a:pt x="466583" y="135443"/>
                    <a:pt x="420665" y="206285"/>
                    <a:pt x="383734" y="267866"/>
                  </a:cubicBezTo>
                  <a:cubicBezTo>
                    <a:pt x="401453" y="198189"/>
                    <a:pt x="419519" y="115431"/>
                    <a:pt x="419519" y="69241"/>
                  </a:cubicBezTo>
                  <a:cubicBezTo>
                    <a:pt x="419519" y="30964"/>
                    <a:pt x="388536" y="0"/>
                    <a:pt x="350277" y="0"/>
                  </a:cubicBezTo>
                  <a:cubicBezTo>
                    <a:pt x="312001" y="0"/>
                    <a:pt x="281037" y="30964"/>
                    <a:pt x="281037" y="69241"/>
                  </a:cubicBezTo>
                  <a:cubicBezTo>
                    <a:pt x="281037" y="115067"/>
                    <a:pt x="298666" y="197662"/>
                    <a:pt x="316094" y="267339"/>
                  </a:cubicBezTo>
                  <a:cubicBezTo>
                    <a:pt x="279345" y="205575"/>
                    <a:pt x="233610" y="134297"/>
                    <a:pt x="200955" y="101623"/>
                  </a:cubicBezTo>
                  <a:cubicBezTo>
                    <a:pt x="173902" y="74571"/>
                    <a:pt x="130113" y="74571"/>
                    <a:pt x="103060" y="101623"/>
                  </a:cubicBezTo>
                  <a:cubicBezTo>
                    <a:pt x="76008" y="128675"/>
                    <a:pt x="76008" y="172465"/>
                    <a:pt x="103060" y="199517"/>
                  </a:cubicBezTo>
                  <a:cubicBezTo>
                    <a:pt x="135443" y="231917"/>
                    <a:pt x="206285" y="277835"/>
                    <a:pt x="267866" y="314766"/>
                  </a:cubicBezTo>
                  <a:cubicBezTo>
                    <a:pt x="198189" y="297064"/>
                    <a:pt x="115431" y="279000"/>
                    <a:pt x="69241" y="279000"/>
                  </a:cubicBezTo>
                  <a:cubicBezTo>
                    <a:pt x="30964" y="279000"/>
                    <a:pt x="0" y="309964"/>
                    <a:pt x="0" y="348223"/>
                  </a:cubicBezTo>
                  <a:cubicBezTo>
                    <a:pt x="0" y="386499"/>
                    <a:pt x="30964" y="417463"/>
                    <a:pt x="69241" y="417463"/>
                  </a:cubicBezTo>
                  <a:cubicBezTo>
                    <a:pt x="115067" y="417463"/>
                    <a:pt x="197662" y="399834"/>
                    <a:pt x="267339" y="382406"/>
                  </a:cubicBezTo>
                  <a:cubicBezTo>
                    <a:pt x="205575" y="419155"/>
                    <a:pt x="134297" y="464890"/>
                    <a:pt x="101623" y="497564"/>
                  </a:cubicBezTo>
                  <a:cubicBezTo>
                    <a:pt x="74571" y="524617"/>
                    <a:pt x="74571" y="568387"/>
                    <a:pt x="101623" y="595439"/>
                  </a:cubicBezTo>
                  <a:cubicBezTo>
                    <a:pt x="128694" y="622510"/>
                    <a:pt x="172465" y="622510"/>
                    <a:pt x="199517" y="595439"/>
                  </a:cubicBezTo>
                  <a:cubicBezTo>
                    <a:pt x="231917" y="563057"/>
                    <a:pt x="277835" y="492215"/>
                    <a:pt x="314766" y="430634"/>
                  </a:cubicBezTo>
                  <a:cubicBezTo>
                    <a:pt x="297064" y="500311"/>
                    <a:pt x="279000" y="583087"/>
                    <a:pt x="279000" y="629260"/>
                  </a:cubicBezTo>
                  <a:cubicBezTo>
                    <a:pt x="279000" y="667536"/>
                    <a:pt x="309964" y="698500"/>
                    <a:pt x="348223" y="698500"/>
                  </a:cubicBezTo>
                  <a:cubicBezTo>
                    <a:pt x="386499" y="698500"/>
                    <a:pt x="417463" y="667536"/>
                    <a:pt x="417463" y="629260"/>
                  </a:cubicBezTo>
                  <a:cubicBezTo>
                    <a:pt x="417463" y="583433"/>
                    <a:pt x="399852" y="500858"/>
                    <a:pt x="382406" y="431161"/>
                  </a:cubicBezTo>
                  <a:cubicBezTo>
                    <a:pt x="419155" y="492925"/>
                    <a:pt x="464890" y="564203"/>
                    <a:pt x="497564" y="596877"/>
                  </a:cubicBezTo>
                  <a:cubicBezTo>
                    <a:pt x="524617" y="623929"/>
                    <a:pt x="568406" y="623929"/>
                    <a:pt x="595457" y="596877"/>
                  </a:cubicBezTo>
                  <a:cubicBezTo>
                    <a:pt x="622510" y="569825"/>
                    <a:pt x="622510" y="526035"/>
                    <a:pt x="595457" y="498983"/>
                  </a:cubicBezTo>
                  <a:cubicBezTo>
                    <a:pt x="563057" y="466583"/>
                    <a:pt x="492215" y="420665"/>
                    <a:pt x="430634" y="383734"/>
                  </a:cubicBezTo>
                  <a:cubicBezTo>
                    <a:pt x="500311" y="401453"/>
                    <a:pt x="583087" y="419519"/>
                    <a:pt x="629260" y="419519"/>
                  </a:cubicBezTo>
                  <a:cubicBezTo>
                    <a:pt x="667536" y="419519"/>
                    <a:pt x="698500" y="388536"/>
                    <a:pt x="698500" y="350277"/>
                  </a:cubicBezTo>
                  <a:cubicBezTo>
                    <a:pt x="698500" y="312001"/>
                    <a:pt x="667536" y="281037"/>
                    <a:pt x="629260" y="281037"/>
                  </a:cubicBezTo>
                  <a:close/>
                </a:path>
              </a:pathLst>
            </a:custGeom>
            <a:solidFill>
              <a:srgbClr val="ADA26A"/>
            </a:solidFill>
          </p:spPr>
        </p:sp>
        <p:sp>
          <p:nvSpPr>
            <p:cNvPr name="TextBox 4" id="4"/>
            <p:cNvSpPr txBox="true"/>
            <p:nvPr/>
          </p:nvSpPr>
          <p:spPr>
            <a:xfrm>
              <a:off x="165100" y="79375"/>
              <a:ext cx="368300" cy="454025"/>
            </a:xfrm>
            <a:prstGeom prst="rect">
              <a:avLst/>
            </a:prstGeom>
          </p:spPr>
          <p:txBody>
            <a:bodyPr anchor="ctr" rtlCol="false" tIns="50800" lIns="50800" bIns="50800" rIns="50800"/>
            <a:lstStyle/>
            <a:p>
              <a:pPr algn="ctr">
                <a:lnSpc>
                  <a:spcPts val="2239"/>
                </a:lnSpc>
              </a:pPr>
            </a:p>
          </p:txBody>
        </p:sp>
      </p:grpSp>
      <p:sp>
        <p:nvSpPr>
          <p:cNvPr name="TextBox 5" id="5"/>
          <p:cNvSpPr txBox="true"/>
          <p:nvPr/>
        </p:nvSpPr>
        <p:spPr>
          <a:xfrm rot="0">
            <a:off x="1028700" y="1019175"/>
            <a:ext cx="6910589" cy="1295400"/>
          </a:xfrm>
          <a:prstGeom prst="rect">
            <a:avLst/>
          </a:prstGeom>
        </p:spPr>
        <p:txBody>
          <a:bodyPr anchor="t" rtlCol="false" tIns="0" lIns="0" bIns="0" rIns="0">
            <a:spAutoFit/>
          </a:bodyPr>
          <a:lstStyle/>
          <a:p>
            <a:pPr algn="l">
              <a:lnSpc>
                <a:spcPts val="10144"/>
              </a:lnSpc>
            </a:pPr>
            <a:r>
              <a:rPr lang="en-US" sz="8454">
                <a:solidFill>
                  <a:srgbClr val="B3E4C5"/>
                </a:solidFill>
                <a:latin typeface="Neue Machina"/>
                <a:ea typeface="Neue Machina"/>
                <a:cs typeface="Neue Machina"/>
                <a:sym typeface="Neue Machina"/>
              </a:rPr>
              <a:t>SWOT</a:t>
            </a:r>
          </a:p>
        </p:txBody>
      </p:sp>
      <p:graphicFrame>
        <p:nvGraphicFramePr>
          <p:cNvPr name="Table 6" id="6"/>
          <p:cNvGraphicFramePr>
            <a:graphicFrameLocks noGrp="true"/>
          </p:cNvGraphicFramePr>
          <p:nvPr/>
        </p:nvGraphicFramePr>
        <p:xfrm>
          <a:off x="1028700" y="2760109"/>
          <a:ext cx="16230600" cy="6064546"/>
        </p:xfrm>
        <a:graphic>
          <a:graphicData uri="http://schemas.openxmlformats.org/drawingml/2006/table">
            <a:tbl>
              <a:tblPr/>
              <a:tblGrid>
                <a:gridCol w="3962352"/>
                <a:gridCol w="3962352"/>
                <a:gridCol w="3962352"/>
                <a:gridCol w="4343544"/>
              </a:tblGrid>
              <a:tr h="1537469">
                <a:tc>
                  <a:txBody>
                    <a:bodyPr anchor="t" rtlCol="false"/>
                    <a:lstStyle/>
                    <a:p>
                      <a:pPr algn="ctr">
                        <a:lnSpc>
                          <a:spcPts val="4200"/>
                        </a:lnSpc>
                        <a:defRPr/>
                      </a:pPr>
                      <a:r>
                        <a:rPr lang="en-US" sz="3000">
                          <a:solidFill>
                            <a:srgbClr val="0B4236"/>
                          </a:solidFill>
                          <a:latin typeface="Neue Machina"/>
                          <a:ea typeface="Neue Machina"/>
                          <a:cs typeface="Neue Machina"/>
                          <a:sym typeface="Neue Machina"/>
                        </a:rPr>
                        <a:t>Strengths</a:t>
                      </a:r>
                      <a:endParaRPr lang="en-US" sz="1100"/>
                    </a:p>
                  </a:txBody>
                  <a:tcPr marL="190500" marR="190500" marT="190500" marB="190500" anchor="ctr">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B3E4C5"/>
                    </a:solidFill>
                  </a:tcPr>
                </a:tc>
                <a:tc>
                  <a:txBody>
                    <a:bodyPr anchor="t" rtlCol="false"/>
                    <a:lstStyle/>
                    <a:p>
                      <a:pPr algn="ctr">
                        <a:lnSpc>
                          <a:spcPts val="4200"/>
                        </a:lnSpc>
                        <a:defRPr/>
                      </a:pPr>
                      <a:r>
                        <a:rPr lang="en-US" sz="3000">
                          <a:solidFill>
                            <a:srgbClr val="0B4236"/>
                          </a:solidFill>
                          <a:latin typeface="Neue Machina"/>
                          <a:ea typeface="Neue Machina"/>
                          <a:cs typeface="Neue Machina"/>
                          <a:sym typeface="Neue Machina"/>
                        </a:rPr>
                        <a:t>Weaknesses</a:t>
                      </a:r>
                      <a:endParaRPr lang="en-US" sz="1100"/>
                    </a:p>
                  </a:txBody>
                  <a:tcPr marL="190500" marR="190500" marT="190500" marB="190500" anchor="ctr">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B3E4C5"/>
                    </a:solidFill>
                  </a:tcPr>
                </a:tc>
                <a:tc>
                  <a:txBody>
                    <a:bodyPr anchor="t" rtlCol="false"/>
                    <a:lstStyle/>
                    <a:p>
                      <a:pPr algn="ctr">
                        <a:lnSpc>
                          <a:spcPts val="4200"/>
                        </a:lnSpc>
                        <a:defRPr/>
                      </a:pPr>
                      <a:r>
                        <a:rPr lang="en-US" sz="3000">
                          <a:solidFill>
                            <a:srgbClr val="0B4236"/>
                          </a:solidFill>
                          <a:latin typeface="Neue Machina"/>
                          <a:ea typeface="Neue Machina"/>
                          <a:cs typeface="Neue Machina"/>
                          <a:sym typeface="Neue Machina"/>
                        </a:rPr>
                        <a:t>Opportunities</a:t>
                      </a:r>
                      <a:endParaRPr lang="en-US" sz="1100"/>
                    </a:p>
                  </a:txBody>
                  <a:tcPr marL="190500" marR="190500" marT="190500" marB="190500" anchor="ctr">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B3E4C5"/>
                    </a:solidFill>
                  </a:tcPr>
                </a:tc>
                <a:tc>
                  <a:txBody>
                    <a:bodyPr anchor="t" rtlCol="false"/>
                    <a:lstStyle/>
                    <a:p>
                      <a:pPr algn="ctr">
                        <a:lnSpc>
                          <a:spcPts val="4200"/>
                        </a:lnSpc>
                        <a:defRPr/>
                      </a:pPr>
                      <a:r>
                        <a:rPr lang="en-US" sz="3000">
                          <a:solidFill>
                            <a:srgbClr val="0B4236"/>
                          </a:solidFill>
                          <a:latin typeface="Neue Machina"/>
                          <a:ea typeface="Neue Machina"/>
                          <a:cs typeface="Neue Machina"/>
                          <a:sym typeface="Neue Machina"/>
                        </a:rPr>
                        <a:t>Threats</a:t>
                      </a:r>
                      <a:endParaRPr lang="en-US" sz="1100"/>
                    </a:p>
                  </a:txBody>
                  <a:tcPr marL="190500" marR="190500" marT="190500" marB="190500" anchor="ctr">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B3E4C5"/>
                    </a:solidFill>
                  </a:tcPr>
                </a:tc>
              </a:tr>
              <a:tr h="4527077">
                <a:tc>
                  <a:txBody>
                    <a:bodyPr anchor="t" rtlCol="false"/>
                    <a:lstStyle/>
                    <a:p>
                      <a:pPr algn="l">
                        <a:lnSpc>
                          <a:spcPts val="2660"/>
                        </a:lnSpc>
                        <a:defRPr/>
                      </a:pPr>
                      <a:endParaRPr lang="en-US" sz="1100"/>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AI-powered matching connects farmers directly with biomass buyers.</a:t>
                      </a:r>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Integrated logistics simplifies pickup, delivery, and payment.</a:t>
                      </a:r>
                    </a:p>
                    <a:p>
                      <a:pPr algn="l">
                        <a:lnSpc>
                          <a:spcPts val="2660"/>
                        </a:lnSpc>
                      </a:pPr>
                    </a:p>
                  </a:txBody>
                  <a:tcPr marL="190500" marR="190500" marT="190500" marB="190500" anchor="t">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FFFFFF"/>
                    </a:solidFill>
                  </a:tcPr>
                </a:tc>
                <a:tc>
                  <a:txBody>
                    <a:bodyPr anchor="t" rtlCol="false"/>
                    <a:lstStyle/>
                    <a:p>
                      <a:pPr algn="l">
                        <a:lnSpc>
                          <a:spcPts val="2660"/>
                        </a:lnSpc>
                        <a:defRPr/>
                      </a:pPr>
                      <a:endParaRPr lang="en-US" sz="1100"/>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Requires sufficient farmer and buyer participation to build network value.</a:t>
                      </a:r>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Residue quality and quantity can vary across farms.</a:t>
                      </a:r>
                    </a:p>
                  </a:txBody>
                  <a:tcPr marL="190500" marR="190500" marT="190500" marB="190500" anchor="t">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FFFFFF"/>
                    </a:solidFill>
                  </a:tcPr>
                </a:tc>
                <a:tc>
                  <a:txBody>
                    <a:bodyPr anchor="t" rtlCol="false"/>
                    <a:lstStyle/>
                    <a:p>
                      <a:pPr algn="l">
                        <a:lnSpc>
                          <a:spcPts val="2660"/>
                        </a:lnSpc>
                        <a:defRPr/>
                      </a:pPr>
                      <a:endParaRPr lang="en-US" sz="1100"/>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Growing demand for biomass, biofuels, compost, and sustainable packaging.</a:t>
                      </a:r>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Can expand across crop-producing regions and support circular agriculture.</a:t>
                      </a:r>
                    </a:p>
                  </a:txBody>
                  <a:tcPr marL="190500" marR="190500" marT="190500" marB="190500" anchor="t">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FFFFFF"/>
                    </a:solidFill>
                  </a:tcPr>
                </a:tc>
                <a:tc>
                  <a:txBody>
                    <a:bodyPr anchor="t" rtlCol="false"/>
                    <a:lstStyle/>
                    <a:p>
                      <a:pPr algn="l">
                        <a:lnSpc>
                          <a:spcPts val="2660"/>
                        </a:lnSpc>
                        <a:defRPr/>
                      </a:pPr>
                      <a:endParaRPr lang="en-US" sz="1100"/>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Competition from existing local traders and informal markets.</a:t>
                      </a:r>
                    </a:p>
                    <a:p>
                      <a:pPr algn="l" marL="410213" indent="-205106" lvl="1">
                        <a:lnSpc>
                          <a:spcPts val="2660"/>
                        </a:lnSpc>
                        <a:buFont typeface="Arial"/>
                        <a:buChar char="•"/>
                      </a:pPr>
                      <a:r>
                        <a:rPr lang="en-US" sz="1900">
                          <a:solidFill>
                            <a:srgbClr val="0B4236"/>
                          </a:solidFill>
                          <a:latin typeface="Garet Light"/>
                          <a:ea typeface="Garet Light"/>
                          <a:cs typeface="Garet Light"/>
                          <a:sym typeface="Garet Light"/>
                        </a:rPr>
                        <a:t>Seasonal residue availability and changing market prices.</a:t>
                      </a:r>
                    </a:p>
                  </a:txBody>
                  <a:tcPr marL="190500" marR="190500" marT="190500" marB="190500" anchor="t">
                    <a:lnL cmpd="sng" algn="ctr" cap="flat" w="38100">
                      <a:solidFill>
                        <a:srgbClr val="0B4236"/>
                      </a:solidFill>
                      <a:prstDash val="solid"/>
                      <a:round/>
                      <a:headEnd type="none" w="med" len="med"/>
                      <a:tailEnd type="none" w="med" len="med"/>
                    </a:lnL>
                    <a:lnR cmpd="sng" algn="ctr" cap="flat" w="38100">
                      <a:solidFill>
                        <a:srgbClr val="0B4236"/>
                      </a:solidFill>
                      <a:prstDash val="solid"/>
                      <a:round/>
                      <a:headEnd type="none" w="med" len="med"/>
                      <a:tailEnd type="none" w="med" len="med"/>
                    </a:lnR>
                    <a:lnT cmpd="sng" algn="ctr" cap="flat" w="38100">
                      <a:solidFill>
                        <a:srgbClr val="0B4236"/>
                      </a:solidFill>
                      <a:prstDash val="solid"/>
                      <a:round/>
                      <a:headEnd type="none" w="med" len="med"/>
                      <a:tailEnd type="none" w="med" len="med"/>
                    </a:lnT>
                    <a:lnB cmpd="sng" algn="ctr" cap="flat" w="38100">
                      <a:solidFill>
                        <a:srgbClr val="0B4236"/>
                      </a:solidFill>
                      <a:prstDash val="solid"/>
                      <a:round/>
                      <a:headEnd type="none" w="med" len="med"/>
                      <a:tailEnd type="none" w="med" len="med"/>
                    </a:lnB>
                    <a:solidFill>
                      <a:srgbClr val="FFFFFF"/>
                    </a:solidFill>
                  </a:tcPr>
                </a:tc>
              </a:tr>
            </a:tbl>
          </a:graphicData>
        </a:graphic>
      </p:graphicFrame>
      <p:grpSp>
        <p:nvGrpSpPr>
          <p:cNvPr name="Group 7" id="7"/>
          <p:cNvGrpSpPr/>
          <p:nvPr/>
        </p:nvGrpSpPr>
        <p:grpSpPr>
          <a:xfrm rot="0">
            <a:off x="12513291" y="9258300"/>
            <a:ext cx="344578" cy="563858"/>
            <a:chOff x="0" y="0"/>
            <a:chExt cx="224858" cy="367919"/>
          </a:xfrm>
        </p:grpSpPr>
        <p:sp>
          <p:nvSpPr>
            <p:cNvPr name="Freeform 8" id="8"/>
            <p:cNvSpPr/>
            <p:nvPr/>
          </p:nvSpPr>
          <p:spPr>
            <a:xfrm flipH="false" flipV="false" rot="0">
              <a:off x="0" y="0"/>
              <a:ext cx="224858" cy="367919"/>
            </a:xfrm>
            <a:custGeom>
              <a:avLst/>
              <a:gdLst/>
              <a:ahLst/>
              <a:cxnLst/>
              <a:rect r="r" b="b" t="t" l="l"/>
              <a:pathLst>
                <a:path h="367919" w="224858">
                  <a:moveTo>
                    <a:pt x="224858" y="0"/>
                  </a:moveTo>
                  <a:lnTo>
                    <a:pt x="224858" y="367919"/>
                  </a:lnTo>
                  <a:lnTo>
                    <a:pt x="0" y="367919"/>
                  </a:lnTo>
                  <a:lnTo>
                    <a:pt x="0" y="0"/>
                  </a:lnTo>
                  <a:close/>
                </a:path>
              </a:pathLst>
            </a:custGeom>
            <a:solidFill>
              <a:srgbClr val="B3E4C5"/>
            </a:solidFill>
          </p:spPr>
        </p:sp>
        <p:sp>
          <p:nvSpPr>
            <p:cNvPr name="TextBox 9" id="9"/>
            <p:cNvSpPr txBox="true"/>
            <p:nvPr/>
          </p:nvSpPr>
          <p:spPr>
            <a:xfrm>
              <a:off x="0" y="-38100"/>
              <a:ext cx="224858" cy="406019"/>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3081178" y="9258300"/>
            <a:ext cx="5350182" cy="563858"/>
            <a:chOff x="0" y="0"/>
            <a:chExt cx="1978973" cy="208565"/>
          </a:xfrm>
        </p:grpSpPr>
        <p:sp>
          <p:nvSpPr>
            <p:cNvPr name="Freeform 11" id="11"/>
            <p:cNvSpPr/>
            <p:nvPr/>
          </p:nvSpPr>
          <p:spPr>
            <a:xfrm flipH="false" flipV="false" rot="0">
              <a:off x="0" y="0"/>
              <a:ext cx="1978973" cy="208565"/>
            </a:xfrm>
            <a:custGeom>
              <a:avLst/>
              <a:gdLst/>
              <a:ahLst/>
              <a:cxnLst/>
              <a:rect r="r" b="b" t="t" l="l"/>
              <a:pathLst>
                <a:path h="208565" w="1978973">
                  <a:moveTo>
                    <a:pt x="0" y="0"/>
                  </a:moveTo>
                  <a:lnTo>
                    <a:pt x="1978973" y="0"/>
                  </a:lnTo>
                  <a:lnTo>
                    <a:pt x="1978973" y="208565"/>
                  </a:lnTo>
                  <a:lnTo>
                    <a:pt x="0" y="208565"/>
                  </a:lnTo>
                  <a:close/>
                </a:path>
              </a:pathLst>
            </a:custGeom>
            <a:solidFill>
              <a:srgbClr val="B3E4C5"/>
            </a:solidFill>
          </p:spPr>
        </p:sp>
        <p:sp>
          <p:nvSpPr>
            <p:cNvPr name="TextBox 12" id="12"/>
            <p:cNvSpPr txBox="true"/>
            <p:nvPr/>
          </p:nvSpPr>
          <p:spPr>
            <a:xfrm>
              <a:off x="0" y="-38100"/>
              <a:ext cx="1978973" cy="24666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3E4C5"/>
        </a:solidFill>
      </p:bgPr>
    </p:bg>
    <p:spTree>
      <p:nvGrpSpPr>
        <p:cNvPr id="1" name=""/>
        <p:cNvGrpSpPr/>
        <p:nvPr/>
      </p:nvGrpSpPr>
      <p:grpSpPr>
        <a:xfrm>
          <a:off x="0" y="0"/>
          <a:ext cx="0" cy="0"/>
          <a:chOff x="0" y="0"/>
          <a:chExt cx="0" cy="0"/>
        </a:xfrm>
      </p:grpSpPr>
      <p:grpSp>
        <p:nvGrpSpPr>
          <p:cNvPr name="Group 2" id="2"/>
          <p:cNvGrpSpPr/>
          <p:nvPr/>
        </p:nvGrpSpPr>
        <p:grpSpPr>
          <a:xfrm rot="0">
            <a:off x="671924" y="1474425"/>
            <a:ext cx="6628733" cy="455332"/>
            <a:chOff x="0" y="0"/>
            <a:chExt cx="1745839" cy="119923"/>
          </a:xfrm>
        </p:grpSpPr>
        <p:sp>
          <p:nvSpPr>
            <p:cNvPr name="Freeform 3" id="3"/>
            <p:cNvSpPr/>
            <p:nvPr/>
          </p:nvSpPr>
          <p:spPr>
            <a:xfrm flipH="false" flipV="false" rot="0">
              <a:off x="0" y="0"/>
              <a:ext cx="1745839" cy="119923"/>
            </a:xfrm>
            <a:custGeom>
              <a:avLst/>
              <a:gdLst/>
              <a:ahLst/>
              <a:cxnLst/>
              <a:rect r="r" b="b" t="t" l="l"/>
              <a:pathLst>
                <a:path h="119923" w="1745839">
                  <a:moveTo>
                    <a:pt x="0" y="0"/>
                  </a:moveTo>
                  <a:lnTo>
                    <a:pt x="1745839" y="0"/>
                  </a:lnTo>
                  <a:lnTo>
                    <a:pt x="1745839" y="119923"/>
                  </a:lnTo>
                  <a:lnTo>
                    <a:pt x="0" y="119923"/>
                  </a:lnTo>
                  <a:close/>
                </a:path>
              </a:pathLst>
            </a:custGeom>
            <a:solidFill>
              <a:srgbClr val="6C977C">
                <a:alpha val="58824"/>
              </a:srgbClr>
            </a:solidFill>
          </p:spPr>
        </p:sp>
        <p:sp>
          <p:nvSpPr>
            <p:cNvPr name="TextBox 4" id="4"/>
            <p:cNvSpPr txBox="true"/>
            <p:nvPr/>
          </p:nvSpPr>
          <p:spPr>
            <a:xfrm>
              <a:off x="0" y="-38100"/>
              <a:ext cx="1745839" cy="158023"/>
            </a:xfrm>
            <a:prstGeom prst="rect">
              <a:avLst/>
            </a:prstGeom>
          </p:spPr>
          <p:txBody>
            <a:bodyPr anchor="ctr" rtlCol="false" tIns="50800" lIns="50800" bIns="50800" rIns="50800"/>
            <a:lstStyle/>
            <a:p>
              <a:pPr algn="ctr">
                <a:lnSpc>
                  <a:spcPts val="2239"/>
                </a:lnSpc>
              </a:pPr>
            </a:p>
          </p:txBody>
        </p:sp>
      </p:grpSp>
      <p:sp>
        <p:nvSpPr>
          <p:cNvPr name="TextBox 5" id="5"/>
          <p:cNvSpPr txBox="true"/>
          <p:nvPr/>
        </p:nvSpPr>
        <p:spPr>
          <a:xfrm rot="0">
            <a:off x="671924" y="1031513"/>
            <a:ext cx="7538080" cy="876300"/>
          </a:xfrm>
          <a:prstGeom prst="rect">
            <a:avLst/>
          </a:prstGeom>
        </p:spPr>
        <p:txBody>
          <a:bodyPr anchor="t" rtlCol="false" tIns="0" lIns="0" bIns="0" rIns="0">
            <a:spAutoFit/>
          </a:bodyPr>
          <a:lstStyle/>
          <a:p>
            <a:pPr algn="l">
              <a:lnSpc>
                <a:spcPts val="6839"/>
              </a:lnSpc>
            </a:pPr>
            <a:r>
              <a:rPr lang="en-US" sz="5700">
                <a:solidFill>
                  <a:srgbClr val="0B4236"/>
                </a:solidFill>
                <a:latin typeface="Neue Machina"/>
                <a:ea typeface="Neue Machina"/>
                <a:cs typeface="Neue Machina"/>
                <a:sym typeface="Neue Machina"/>
              </a:rPr>
              <a:t>Industry Analysis</a:t>
            </a:r>
          </a:p>
        </p:txBody>
      </p:sp>
      <p:grpSp>
        <p:nvGrpSpPr>
          <p:cNvPr name="Group 6" id="6"/>
          <p:cNvGrpSpPr/>
          <p:nvPr/>
        </p:nvGrpSpPr>
        <p:grpSpPr>
          <a:xfrm rot="0">
            <a:off x="9144000" y="0"/>
            <a:ext cx="9144000" cy="10287000"/>
            <a:chOff x="0" y="0"/>
            <a:chExt cx="3335756" cy="3752725"/>
          </a:xfrm>
        </p:grpSpPr>
        <p:sp>
          <p:nvSpPr>
            <p:cNvPr name="Freeform 7" id="7"/>
            <p:cNvSpPr/>
            <p:nvPr/>
          </p:nvSpPr>
          <p:spPr>
            <a:xfrm flipH="false" flipV="false" rot="0">
              <a:off x="0" y="0"/>
              <a:ext cx="3335756" cy="3752726"/>
            </a:xfrm>
            <a:custGeom>
              <a:avLst/>
              <a:gdLst/>
              <a:ahLst/>
              <a:cxnLst/>
              <a:rect r="r" b="b" t="t" l="l"/>
              <a:pathLst>
                <a:path h="3752726" w="3335756">
                  <a:moveTo>
                    <a:pt x="0" y="0"/>
                  </a:moveTo>
                  <a:lnTo>
                    <a:pt x="3335756" y="0"/>
                  </a:lnTo>
                  <a:lnTo>
                    <a:pt x="3335756" y="3752726"/>
                  </a:lnTo>
                  <a:lnTo>
                    <a:pt x="0" y="3752726"/>
                  </a:lnTo>
                  <a:close/>
                </a:path>
              </a:pathLst>
            </a:custGeom>
            <a:solidFill>
              <a:srgbClr val="FFFFFF"/>
            </a:solidFill>
          </p:spPr>
        </p:sp>
      </p:grpSp>
      <p:pic>
        <p:nvPicPr>
          <p:cNvPr name="Picture 8" id="8"/>
          <p:cNvPicPr>
            <a:picLocks noChangeAspect="true"/>
          </p:cNvPicPr>
          <p:nvPr/>
        </p:nvPicPr>
        <p:blipFill>
          <a:blip r:embed="rId2"/>
          <a:stretch>
            <a:fillRect/>
          </a:stretch>
        </p:blipFill>
        <p:spPr>
          <a:xfrm rot="0">
            <a:off x="8459212" y="598294"/>
            <a:ext cx="10513577" cy="9473332"/>
          </a:xfrm>
          <a:prstGeom prst="rect">
            <a:avLst/>
          </a:prstGeom>
        </p:spPr>
      </p:pic>
      <p:sp>
        <p:nvSpPr>
          <p:cNvPr name="Freeform 9" id="9"/>
          <p:cNvSpPr/>
          <p:nvPr/>
        </p:nvSpPr>
        <p:spPr>
          <a:xfrm flipH="false" flipV="false" rot="0">
            <a:off x="-346861" y="8260645"/>
            <a:ext cx="9424405" cy="5271776"/>
          </a:xfrm>
          <a:custGeom>
            <a:avLst/>
            <a:gdLst/>
            <a:ahLst/>
            <a:cxnLst/>
            <a:rect r="r" b="b" t="t" l="l"/>
            <a:pathLst>
              <a:path h="5271776" w="9424405">
                <a:moveTo>
                  <a:pt x="0" y="0"/>
                </a:moveTo>
                <a:lnTo>
                  <a:pt x="9424405" y="0"/>
                </a:lnTo>
                <a:lnTo>
                  <a:pt x="9424405" y="5271776"/>
                </a:lnTo>
                <a:lnTo>
                  <a:pt x="0" y="5271776"/>
                </a:lnTo>
                <a:lnTo>
                  <a:pt x="0" y="0"/>
                </a:lnTo>
                <a:close/>
              </a:path>
            </a:pathLst>
          </a:custGeom>
          <a:blipFill>
            <a:blip r:embed="rId3">
              <a:alphaModFix amt="51000"/>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758974" y="8374945"/>
            <a:ext cx="7601830" cy="660400"/>
          </a:xfrm>
          <a:prstGeom prst="rect">
            <a:avLst/>
          </a:prstGeom>
        </p:spPr>
        <p:txBody>
          <a:bodyPr anchor="t" rtlCol="false" tIns="0" lIns="0" bIns="0" rIns="0">
            <a:spAutoFit/>
          </a:bodyPr>
          <a:lstStyle/>
          <a:p>
            <a:pPr algn="l">
              <a:lnSpc>
                <a:spcPts val="2600"/>
              </a:lnSpc>
            </a:pPr>
            <a:r>
              <a:rPr lang="en-US" sz="2000">
                <a:solidFill>
                  <a:srgbClr val="0B4236"/>
                </a:solidFill>
                <a:latin typeface="Neue Machina"/>
                <a:ea typeface="Neue Machina"/>
                <a:cs typeface="Neue Machina"/>
                <a:sym typeface="Neue Machina"/>
              </a:rPr>
              <a:t>Source: Government agriculture reports, biomass industry studies &amp; market research</a:t>
            </a:r>
          </a:p>
        </p:txBody>
      </p:sp>
      <p:sp>
        <p:nvSpPr>
          <p:cNvPr name="Freeform 11" id="11"/>
          <p:cNvSpPr/>
          <p:nvPr/>
        </p:nvSpPr>
        <p:spPr>
          <a:xfrm flipH="false" flipV="false" rot="0">
            <a:off x="1028700" y="7633117"/>
            <a:ext cx="3832790" cy="370353"/>
          </a:xfrm>
          <a:custGeom>
            <a:avLst/>
            <a:gdLst/>
            <a:ahLst/>
            <a:cxnLst/>
            <a:rect r="r" b="b" t="t" l="l"/>
            <a:pathLst>
              <a:path h="370353" w="3832790">
                <a:moveTo>
                  <a:pt x="0" y="0"/>
                </a:moveTo>
                <a:lnTo>
                  <a:pt x="3832790" y="0"/>
                </a:lnTo>
                <a:lnTo>
                  <a:pt x="3832790" y="370353"/>
                </a:lnTo>
                <a:lnTo>
                  <a:pt x="0" y="370353"/>
                </a:lnTo>
                <a:lnTo>
                  <a:pt x="0" y="0"/>
                </a:lnTo>
                <a:close/>
              </a:path>
            </a:pathLst>
          </a:custGeom>
          <a:blipFill>
            <a:blip r:embed="rId5">
              <a:extLst>
                <a:ext uri="{96DAC541-7B7A-43D3-8B79-37D633B846F1}">
                  <asvg:svgBlip xmlns:asvg="http://schemas.microsoft.com/office/drawing/2016/SVG/main" r:embed="rId6"/>
                </a:ext>
              </a:extLst>
            </a:blip>
            <a:stretch>
              <a:fillRect l="0" t="0" r="0" b="-532230"/>
            </a:stretch>
          </a:blipFill>
        </p:spPr>
      </p:sp>
      <p:sp>
        <p:nvSpPr>
          <p:cNvPr name="TextBox 12" id="12"/>
          <p:cNvSpPr txBox="true"/>
          <p:nvPr/>
        </p:nvSpPr>
        <p:spPr>
          <a:xfrm rot="0">
            <a:off x="1028700" y="6817142"/>
            <a:ext cx="5968433" cy="406400"/>
          </a:xfrm>
          <a:prstGeom prst="rect">
            <a:avLst/>
          </a:prstGeom>
        </p:spPr>
        <p:txBody>
          <a:bodyPr anchor="t" rtlCol="false" tIns="0" lIns="0" bIns="0" rIns="0">
            <a:spAutoFit/>
          </a:bodyPr>
          <a:lstStyle/>
          <a:p>
            <a:pPr algn="l">
              <a:lnSpc>
                <a:spcPts val="3250"/>
              </a:lnSpc>
            </a:pPr>
            <a:r>
              <a:rPr lang="en-US" b="true" sz="2500">
                <a:solidFill>
                  <a:srgbClr val="344E41"/>
                </a:solidFill>
                <a:latin typeface="Garet Bold"/>
                <a:ea typeface="Garet Bold"/>
                <a:cs typeface="Garet Bold"/>
                <a:sym typeface="Garet Bold"/>
              </a:rPr>
              <a:t>Waste → Resource → Market</a:t>
            </a:r>
          </a:p>
        </p:txBody>
      </p:sp>
      <p:sp>
        <p:nvSpPr>
          <p:cNvPr name="TextBox 13" id="13"/>
          <p:cNvSpPr txBox="true"/>
          <p:nvPr/>
        </p:nvSpPr>
        <p:spPr>
          <a:xfrm rot="0">
            <a:off x="671924" y="3162887"/>
            <a:ext cx="7775931" cy="3273425"/>
          </a:xfrm>
          <a:prstGeom prst="rect">
            <a:avLst/>
          </a:prstGeom>
        </p:spPr>
        <p:txBody>
          <a:bodyPr anchor="t" rtlCol="false" tIns="0" lIns="0" bIns="0" rIns="0">
            <a:spAutoFit/>
          </a:bodyPr>
          <a:lstStyle/>
          <a:p>
            <a:pPr algn="just">
              <a:lnSpc>
                <a:spcPts val="3250"/>
              </a:lnSpc>
            </a:pPr>
            <a:r>
              <a:rPr lang="en-US" sz="2500" b="true">
                <a:solidFill>
                  <a:srgbClr val="0B4236"/>
                </a:solidFill>
                <a:latin typeface="Garet Bold"/>
                <a:ea typeface="Garet Bold"/>
                <a:cs typeface="Garet Bold"/>
                <a:sym typeface="Garet Bold"/>
              </a:rPr>
              <a:t>Agricultural Biomass Is Becoming a Valuable Resource</a:t>
            </a:r>
          </a:p>
          <a:p>
            <a:pPr algn="just">
              <a:lnSpc>
                <a:spcPts val="3250"/>
              </a:lnSpc>
            </a:pPr>
            <a:r>
              <a:rPr lang="en-US" sz="2500">
                <a:solidFill>
                  <a:srgbClr val="0B4236"/>
                </a:solidFill>
                <a:latin typeface="Garet Light"/>
                <a:ea typeface="Garet Light"/>
                <a:cs typeface="Garet Light"/>
                <a:sym typeface="Garet Light"/>
              </a:rPr>
              <a:t>The demand for crop residue is expanding across biofuels, biomass energy, composting and sustainable packaging. However, supply remains fragmented, making farmer connectivity, collection and reliable procurement major challenges.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DAHUr_lhDvg</dc:identifier>
  <dcterms:modified xsi:type="dcterms:W3CDTF">2011-08-01T06:04:30Z</dcterms:modified>
  <cp:revision>1</cp:revision>
  <dc:title>Olive Green Mint Green Modular Abstract Business Case Study and Report Business Presentation</dc:title>
</cp:coreProperties>
</file>